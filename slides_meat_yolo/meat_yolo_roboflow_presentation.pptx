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>
                <a:alpha val="0"/>
              </a:srgbClr>
            </a:solidFill>
            <a:prstDash val="solid"/>
          </a:ln>
        </p:spPr>
      </p:sp>
      <p:pic>
        <p:nvPicPr>
          <p:cNvPr id="3" name="Image 0" descr="/Users/abesouichirou/Documents/utokyo_lecture/programming1/detect_results/train/val_batch0_pred.jpg">    </p:cNvPr>
          <p:cNvPicPr>
            <a:picLocks noChangeAspect="1"/>
          </p:cNvPicPr>
          <p:nvPr/>
        </p:nvPicPr>
        <p:blipFill>
          <a:blip r:embed="rId1"/>
          <a:srcRect l="133" r="133" t="0" b="0"/>
          <a:stretch/>
        </p:blipFill>
        <p:spPr>
          <a:xfrm>
            <a:off x="5349240" y="0"/>
            <a:ext cx="683971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5166360" cy="6858000"/>
          </a:xfrm>
          <a:prstGeom prst="rect">
            <a:avLst/>
          </a:prstGeom>
          <a:solidFill>
            <a:srgbClr val="151210">
              <a:alpha val="96000"/>
            </a:srgbClr>
          </a:solidFill>
          <a:ln w="12700">
            <a:solidFill>
              <a:srgbClr val="151210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166360" y="0"/>
            <a:ext cx="182880" cy="6858000"/>
          </a:xfrm>
          <a:prstGeom prst="rect">
            <a:avLst/>
          </a:prstGeom>
          <a:solidFill>
            <a:srgbClr val="151210">
              <a:alpha val="58000"/>
            </a:srgbClr>
          </a:solidFill>
          <a:ln w="12700">
            <a:solidFill>
              <a:srgbClr val="151210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566928"/>
            <a:ext cx="19202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MEAT DETECTION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1252728"/>
            <a:ext cx="4434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97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 x Roboflow</a:t>
            </a:r>
            <a:endParaRPr lang="en-US" sz="3297" dirty="0"/>
          </a:p>
          <a:p>
            <a:pPr indent="0" marL="0">
              <a:buNone/>
            </a:pPr>
            <a:r>
              <a:rPr lang="en-US" sz="3297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肉種判定モデルの開発</a:t>
            </a:r>
            <a:endParaRPr lang="en-US" sz="3297" dirty="0"/>
          </a:p>
        </p:txBody>
      </p:sp>
      <p:sp>
        <p:nvSpPr>
          <p:cNvPr id="8" name="Text 5"/>
          <p:cNvSpPr/>
          <p:nvPr/>
        </p:nvSpPr>
        <p:spPr>
          <a:xfrm>
            <a:off x="603504" y="2999232"/>
            <a:ext cx="4160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D9D0C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画像中の肉領域を検出し、beef / chicken / lamb / pork を推定する</a:t>
            </a:r>
            <a:endParaRPr lang="en-US" sz="1360" dirty="0"/>
          </a:p>
        </p:txBody>
      </p:sp>
      <p:sp>
        <p:nvSpPr>
          <p:cNvPr id="9" name="Shape 6"/>
          <p:cNvSpPr/>
          <p:nvPr/>
        </p:nvSpPr>
        <p:spPr>
          <a:xfrm>
            <a:off x="603504" y="3913632"/>
            <a:ext cx="1143000" cy="365760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5800" y="4009644"/>
            <a:ext cx="9784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YOLO11s</a:t>
            </a:r>
            <a:endParaRPr lang="en-US" sz="820" dirty="0"/>
          </a:p>
        </p:txBody>
      </p:sp>
      <p:sp>
        <p:nvSpPr>
          <p:cNvPr id="11" name="Shape 8"/>
          <p:cNvSpPr/>
          <p:nvPr/>
        </p:nvSpPr>
        <p:spPr>
          <a:xfrm>
            <a:off x="1901952" y="3913632"/>
            <a:ext cx="1261872" cy="365760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984248" y="4009644"/>
            <a:ext cx="109728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Roboflow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3319272" y="3913632"/>
            <a:ext cx="1755648" cy="365760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01568" y="4009644"/>
            <a:ext cx="1591056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Object Detection</a:t>
            </a:r>
            <a:endParaRPr lang="en-US" sz="820" dirty="0"/>
          </a:p>
        </p:txBody>
      </p:sp>
      <p:sp>
        <p:nvSpPr>
          <p:cNvPr id="15" name="Text 12"/>
          <p:cNvSpPr/>
          <p:nvPr/>
        </p:nvSpPr>
        <p:spPr>
          <a:xfrm>
            <a:off x="603504" y="5961888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BFB3A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応用プログラミング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603504" y="619963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BFB3A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2026年6月1日 13:11</a:t>
            </a:r>
            <a:endParaRPr lang="en-US" sz="880" dirty="0"/>
          </a:p>
        </p:txBody>
      </p:sp>
      <p:sp>
        <p:nvSpPr>
          <p:cNvPr id="17" name="Text 14"/>
          <p:cNvSpPr/>
          <p:nvPr/>
        </p:nvSpPr>
        <p:spPr>
          <a:xfrm>
            <a:off x="3218688" y="6080760"/>
            <a:ext cx="17099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80" dirty="0">
                <a:solidFill>
                  <a:srgbClr val="BFB3A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03250910阿部壮一郎</a:t>
            </a:r>
            <a:endParaRPr lang="en-US" sz="880" dirty="0"/>
          </a:p>
        </p:txBody>
      </p:sp>
      <p:sp>
        <p:nvSpPr>
          <p:cNvPr id="18" name="Text 15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pic>
        <p:nvPicPr>
          <p:cNvPr id="3" name="Image 0" descr="/Users/abesouichirou/Documents/utokyo_lecture/programming1/detect_results/train/val_batch0_pred.jpg">    </p:cNvPr>
          <p:cNvPicPr>
            <a:picLocks noChangeAspect="1"/>
          </p:cNvPicPr>
          <p:nvPr/>
        </p:nvPicPr>
        <p:blipFill>
          <a:blip r:embed="rId1"/>
          <a:srcRect l="12000" r="26933" t="0" b="0"/>
          <a:stretch/>
        </p:blipFill>
        <p:spPr>
          <a:xfrm>
            <a:off x="8001000" y="0"/>
            <a:ext cx="418795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784848" y="0"/>
            <a:ext cx="1143000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658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発表構成</a:t>
            </a:r>
            <a:endParaRPr lang="en-US" sz="2700" dirty="0"/>
          </a:p>
        </p:txBody>
      </p:sp>
      <p:sp>
        <p:nvSpPr>
          <p:cNvPr id="6" name="Text 3"/>
          <p:cNvSpPr/>
          <p:nvPr/>
        </p:nvSpPr>
        <p:spPr>
          <a:xfrm>
            <a:off x="585216" y="1124712"/>
            <a:ext cx="4663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研究目的を正当化し、手法、結果、今後の課題へつなげる</a:t>
            </a:r>
            <a:endParaRPr lang="en-US" sz="1120" dirty="0"/>
          </a:p>
        </p:txBody>
      </p:sp>
      <p:sp>
        <p:nvSpPr>
          <p:cNvPr id="7" name="Text 4"/>
          <p:cNvSpPr/>
          <p:nvPr/>
        </p:nvSpPr>
        <p:spPr>
          <a:xfrm>
            <a:off x="713232" y="1901952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01</a:t>
            </a:r>
            <a:endParaRPr lang="en-US" sz="920" dirty="0"/>
          </a:p>
        </p:txBody>
      </p:sp>
      <p:sp>
        <p:nvSpPr>
          <p:cNvPr id="8" name="Shape 5"/>
          <p:cNvSpPr/>
          <p:nvPr/>
        </p:nvSpPr>
        <p:spPr>
          <a:xfrm>
            <a:off x="1325880" y="1993392"/>
            <a:ext cx="548640" cy="0"/>
          </a:xfrm>
          <a:prstGeom prst="line">
            <a:avLst/>
          </a:prstGeom>
          <a:noFill/>
          <a:ln w="20320">
            <a:solidFill>
              <a:srgbClr val="E4DAD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2029968" y="18288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はじめに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3685032" y="1856232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背景、既往研究、課題、目的</a:t>
            </a:r>
            <a:endParaRPr lang="en-US" sz="1070" dirty="0"/>
          </a:p>
        </p:txBody>
      </p:sp>
      <p:sp>
        <p:nvSpPr>
          <p:cNvPr id="11" name="Shape 8"/>
          <p:cNvSpPr/>
          <p:nvPr/>
        </p:nvSpPr>
        <p:spPr>
          <a:xfrm>
            <a:off x="685800" y="2331720"/>
            <a:ext cx="566928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3232" y="2798064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</a:t>
            </a:r>
            <a:endParaRPr lang="en-US" sz="920" dirty="0"/>
          </a:p>
        </p:txBody>
      </p:sp>
      <p:sp>
        <p:nvSpPr>
          <p:cNvPr id="13" name="Shape 10"/>
          <p:cNvSpPr/>
          <p:nvPr/>
        </p:nvSpPr>
        <p:spPr>
          <a:xfrm>
            <a:off x="1325880" y="2889504"/>
            <a:ext cx="548640" cy="0"/>
          </a:xfrm>
          <a:prstGeom prst="line">
            <a:avLst/>
          </a:prstGeom>
          <a:noFill/>
          <a:ln w="20320">
            <a:solidFill>
              <a:srgbClr val="1BAE9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029968" y="2724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手法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3685032" y="275234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全体の流れ、Roboflow、YOLO、担当分担</a:t>
            </a:r>
            <a:endParaRPr lang="en-US" sz="1070" dirty="0"/>
          </a:p>
        </p:txBody>
      </p:sp>
      <p:sp>
        <p:nvSpPr>
          <p:cNvPr id="16" name="Shape 13"/>
          <p:cNvSpPr/>
          <p:nvPr/>
        </p:nvSpPr>
        <p:spPr>
          <a:xfrm>
            <a:off x="685800" y="3227832"/>
            <a:ext cx="566928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13232" y="3694176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</a:t>
            </a:r>
            <a:endParaRPr lang="en-US" sz="920" dirty="0"/>
          </a:p>
        </p:txBody>
      </p:sp>
      <p:sp>
        <p:nvSpPr>
          <p:cNvPr id="18" name="Shape 15"/>
          <p:cNvSpPr/>
          <p:nvPr/>
        </p:nvSpPr>
        <p:spPr>
          <a:xfrm>
            <a:off x="1325880" y="3785616"/>
            <a:ext cx="548640" cy="0"/>
          </a:xfrm>
          <a:prstGeom prst="line">
            <a:avLst/>
          </a:prstGeom>
          <a:noFill/>
          <a:ln w="20320">
            <a:solidFill>
              <a:srgbClr val="E4DAD2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2029968" y="3621024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結果と考察</a:t>
            </a:r>
            <a:endParaRPr lang="en-US" sz="1700" dirty="0"/>
          </a:p>
        </p:txBody>
      </p:sp>
      <p:sp>
        <p:nvSpPr>
          <p:cNvPr id="20" name="Text 17"/>
          <p:cNvSpPr/>
          <p:nvPr/>
        </p:nvSpPr>
        <p:spPr>
          <a:xfrm>
            <a:off x="3685032" y="3648456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精度指標、推論例、失敗要因</a:t>
            </a:r>
            <a:endParaRPr lang="en-US" sz="1070" dirty="0"/>
          </a:p>
        </p:txBody>
      </p:sp>
      <p:sp>
        <p:nvSpPr>
          <p:cNvPr id="21" name="Shape 18"/>
          <p:cNvSpPr/>
          <p:nvPr/>
        </p:nvSpPr>
        <p:spPr>
          <a:xfrm>
            <a:off x="685800" y="4123944"/>
            <a:ext cx="566928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3232" y="4590288"/>
            <a:ext cx="411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</a:t>
            </a:r>
            <a:endParaRPr lang="en-US" sz="920" dirty="0"/>
          </a:p>
        </p:txBody>
      </p:sp>
      <p:sp>
        <p:nvSpPr>
          <p:cNvPr id="23" name="Shape 20"/>
          <p:cNvSpPr/>
          <p:nvPr/>
        </p:nvSpPr>
        <p:spPr>
          <a:xfrm>
            <a:off x="1325880" y="4681728"/>
            <a:ext cx="548640" cy="0"/>
          </a:xfrm>
          <a:prstGeom prst="line">
            <a:avLst/>
          </a:prstGeom>
          <a:noFill/>
          <a:ln w="20320">
            <a:solidFill>
              <a:srgbClr val="E4DAD2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2029968" y="4517136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結論</a:t>
            </a:r>
            <a:endParaRPr lang="en-US" sz="1700" dirty="0"/>
          </a:p>
        </p:txBody>
      </p:sp>
      <p:sp>
        <p:nvSpPr>
          <p:cNvPr id="25" name="Text 22"/>
          <p:cNvSpPr/>
          <p:nvPr/>
        </p:nvSpPr>
        <p:spPr>
          <a:xfrm>
            <a:off x="3685032" y="454456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目的の過去形と今後の課題</a:t>
            </a:r>
            <a:endParaRPr lang="en-US" sz="1070" dirty="0"/>
          </a:p>
        </p:txBody>
      </p:sp>
      <p:sp>
        <p:nvSpPr>
          <p:cNvPr id="26" name="Shape 23"/>
          <p:cNvSpPr/>
          <p:nvPr/>
        </p:nvSpPr>
        <p:spPr>
          <a:xfrm>
            <a:off x="685800" y="5020056"/>
            <a:ext cx="566928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1章 はじめに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開発の背景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03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58368" y="1389888"/>
            <a:ext cx="6217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88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自動調理では、食材を見分けて調理条件を変える必要がある</a:t>
            </a:r>
            <a:endParaRPr lang="en-US" sz="1788" dirty="0"/>
          </a:p>
        </p:txBody>
      </p:sp>
      <p:sp>
        <p:nvSpPr>
          <p:cNvPr id="8" name="Text 6"/>
          <p:cNvSpPr/>
          <p:nvPr/>
        </p:nvSpPr>
        <p:spPr>
          <a:xfrm>
            <a:off x="676656" y="2212848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肉の種類を画像から判定できれば、加熱時間や火力、調理手順を機械が選ぶための入力として使える。</a:t>
            </a:r>
            <a:endParaRPr lang="en-US" sz="1440" dirty="0"/>
          </a:p>
        </p:txBody>
      </p:sp>
      <p:sp>
        <p:nvSpPr>
          <p:cNvPr id="9" name="Shape 7"/>
          <p:cNvSpPr/>
          <p:nvPr/>
        </p:nvSpPr>
        <p:spPr>
          <a:xfrm>
            <a:off x="713232" y="3822192"/>
            <a:ext cx="1554480" cy="73152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404164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肉種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713232" y="437083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牛・豚・鶏・羊で適した加熱条件が異なる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697480" y="3822192"/>
            <a:ext cx="1554480" cy="73152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97480" y="404164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状態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2697480" y="437083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部位や切り方で火の通り方が変わる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81728" y="3822192"/>
            <a:ext cx="1554480" cy="73152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4041648"/>
            <a:ext cx="1508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見え方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4681728" y="437083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照明や重なりで画像特徴が揺れる</a:t>
            </a:r>
            <a:endParaRPr lang="en-US" sz="1000" dirty="0"/>
          </a:p>
        </p:txBody>
      </p:sp>
      <p:pic>
        <p:nvPicPr>
          <p:cNvPr id="18" name="Image 0" descr="/Users/abesouichirou/Documents/utokyo_lecture/programming1/detect_results/train/val_batch0_pred.jpg">    </p:cNvPr>
          <p:cNvPicPr>
            <a:picLocks noChangeAspect="1"/>
          </p:cNvPicPr>
          <p:nvPr/>
        </p:nvPicPr>
        <p:blipFill>
          <a:blip r:embed="rId1"/>
          <a:srcRect l="20000" r="10761" t="8000" b="22000"/>
          <a:stretch/>
        </p:blipFill>
        <p:spPr>
          <a:xfrm>
            <a:off x="7315200" y="1298448"/>
            <a:ext cx="4160520" cy="420624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315200" y="5742432"/>
            <a:ext cx="1143000" cy="292608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406640" y="5801868"/>
            <a:ext cx="9601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Problem</a:t>
            </a:r>
            <a:endParaRPr lang="en-US" sz="760" dirty="0"/>
          </a:p>
        </p:txBody>
      </p:sp>
      <p:sp>
        <p:nvSpPr>
          <p:cNvPr id="21" name="Text 18"/>
          <p:cNvSpPr/>
          <p:nvPr/>
        </p:nvSpPr>
        <p:spPr>
          <a:xfrm>
            <a:off x="8641080" y="5760720"/>
            <a:ext cx="2743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調理判断の前段として、肉種を安定して検出する必要がある</a:t>
            </a:r>
            <a:endParaRPr lang="en-US" sz="10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1章 はじめに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既往研究・関連技術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04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344168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食品画像認識では、画像分類と物体検出がよく使われる</a:t>
            </a:r>
            <a:endParaRPr lang="en-US" sz="2300" dirty="0"/>
          </a:p>
        </p:txBody>
      </p:sp>
      <p:sp>
        <p:nvSpPr>
          <p:cNvPr id="8" name="Shape 6"/>
          <p:cNvSpPr/>
          <p:nvPr/>
        </p:nvSpPr>
        <p:spPr>
          <a:xfrm>
            <a:off x="749808" y="1993392"/>
            <a:ext cx="2880360" cy="2084832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1993392"/>
            <a:ext cx="2880360" cy="128016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9264" y="23591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CNN分類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969264" y="27706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画像全体を1つのクラスに分類する。食材写真の分類で広く利用される。</a:t>
            </a:r>
            <a:endParaRPr lang="en-US" sz="1030" dirty="0"/>
          </a:p>
        </p:txBody>
      </p:sp>
      <p:sp>
        <p:nvSpPr>
          <p:cNvPr id="12" name="Shape 10"/>
          <p:cNvSpPr/>
          <p:nvPr/>
        </p:nvSpPr>
        <p:spPr>
          <a:xfrm>
            <a:off x="4425696" y="1993392"/>
            <a:ext cx="2880360" cy="2084832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25696" y="1993392"/>
            <a:ext cx="2880360" cy="128016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23591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YOLO検出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645152" y="27706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物体の位置と種類を同時に推定する。複数対象や背景を含む画像に向く。</a:t>
            </a:r>
            <a:endParaRPr lang="en-US" sz="1030" dirty="0"/>
          </a:p>
        </p:txBody>
      </p:sp>
      <p:sp>
        <p:nvSpPr>
          <p:cNvPr id="16" name="Shape 14"/>
          <p:cNvSpPr/>
          <p:nvPr/>
        </p:nvSpPr>
        <p:spPr>
          <a:xfrm>
            <a:off x="8101584" y="1993392"/>
            <a:ext cx="2880360" cy="2084832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1584" y="1993392"/>
            <a:ext cx="2880360" cy="128016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2359152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Roboflow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8321040" y="2770632"/>
            <a:ext cx="2331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アノテーション、分割、前処理、拡張、YOLO形式出力を一元管理する。</a:t>
            </a:r>
            <a:endParaRPr lang="en-US" sz="1030" dirty="0"/>
          </a:p>
        </p:txBody>
      </p:sp>
      <p:sp>
        <p:nvSpPr>
          <p:cNvPr id="20" name="Shape 18"/>
          <p:cNvSpPr/>
          <p:nvPr/>
        </p:nvSpPr>
        <p:spPr>
          <a:xfrm>
            <a:off x="1481328" y="4873752"/>
            <a:ext cx="886968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" y="5303520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本研究の位置づけ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2606040" y="5321808"/>
            <a:ext cx="6583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6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既存モデルを使い、肉種に合わせたデータセット設計と失敗分析に焦点を置く</a:t>
            </a:r>
            <a:endParaRPr lang="en-US" sz="1160" dirty="0"/>
          </a:p>
        </p:txBody>
      </p:sp>
      <p:sp>
        <p:nvSpPr>
          <p:cNvPr id="23" name="Shape 21"/>
          <p:cNvSpPr/>
          <p:nvPr/>
        </p:nvSpPr>
        <p:spPr>
          <a:xfrm>
            <a:off x="9372600" y="5230368"/>
            <a:ext cx="685800" cy="365760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54896" y="5326380"/>
            <a:ext cx="5212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検出</a:t>
            </a:r>
            <a:endParaRPr lang="en-US" sz="820" dirty="0"/>
          </a:p>
        </p:txBody>
      </p:sp>
      <p:sp>
        <p:nvSpPr>
          <p:cNvPr id="25" name="Shape 23"/>
          <p:cNvSpPr/>
          <p:nvPr/>
        </p:nvSpPr>
        <p:spPr>
          <a:xfrm>
            <a:off x="10195560" y="5230368"/>
            <a:ext cx="685800" cy="365760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77856" y="5326380"/>
            <a:ext cx="5212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分類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1018520" y="5230368"/>
            <a:ext cx="685800" cy="365760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100816" y="5326380"/>
            <a:ext cx="5212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考察</a:t>
            </a:r>
            <a:endParaRPr lang="en-US" sz="8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1章 はじめに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肉画像認識の課題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05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94944" y="13258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現在は2つの難所を分けて扱うため、追加データで学習を進めている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13232" y="1874520"/>
            <a:ext cx="4992624" cy="3246120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pic>
        <p:nvPicPr>
          <p:cNvPr id="9" name="Image 0" descr="/Users/abesouichirou/Documents/utokyo_lecture/programming1/detect_results/predict/pngtree-red-meat-on-a-white-cut-out-picture-image_13276259_png.rf.b5d2f746cfb72290f0109194277ae8b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50976" y="2139696"/>
            <a:ext cx="2057400" cy="20574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50976" y="2139696"/>
            <a:ext cx="20574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8E233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319272" y="2148840"/>
            <a:ext cx="960120" cy="292608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410712" y="2208276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課題1</a:t>
            </a:r>
            <a:endParaRPr lang="en-US" sz="760" dirty="0"/>
          </a:p>
        </p:txBody>
      </p:sp>
      <p:sp>
        <p:nvSpPr>
          <p:cNvPr id="13" name="Text 10"/>
          <p:cNvSpPr/>
          <p:nvPr/>
        </p:nvSpPr>
        <p:spPr>
          <a:xfrm>
            <a:off x="3319272" y="26700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背景の差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3319272" y="3127248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皿、まな板、白背景などの撮影条件に引っ張られず、肉そのものの特徴で判定する。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950976" y="4480560"/>
            <a:ext cx="4480560" cy="0"/>
          </a:xfrm>
          <a:prstGeom prst="line">
            <a:avLst/>
          </a:prstGeom>
          <a:noFill/>
          <a:ln w="15240">
            <a:solidFill>
              <a:srgbClr val="8E233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9264" y="46817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背景・切り抜き条件が異なる例</a:t>
            </a:r>
            <a:endParaRPr lang="en-US" sz="920" dirty="0"/>
          </a:p>
        </p:txBody>
      </p:sp>
      <p:sp>
        <p:nvSpPr>
          <p:cNvPr id="17" name="Shape 14"/>
          <p:cNvSpPr/>
          <p:nvPr/>
        </p:nvSpPr>
        <p:spPr>
          <a:xfrm>
            <a:off x="6309360" y="1874520"/>
            <a:ext cx="4992624" cy="3246120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pic>
        <p:nvPicPr>
          <p:cNvPr id="18" name="Image 1" descr="/Users/abesouichirou/Documents/utokyo_lecture/programming1/detect_results/predict/IMG_2531_jpg.rf.f79a1b88fc9ef9a5564c42be115c7bb8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47104" y="2139696"/>
            <a:ext cx="2057400" cy="2057400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6547104" y="2139696"/>
            <a:ext cx="20574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1BAE9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8915400" y="2148840"/>
            <a:ext cx="960120" cy="292608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9006840" y="2208276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課題2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8915400" y="267004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肉同士の重なり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8915400" y="3127248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複数の肉片が接触・重なっている場合でも、1つずつの領域と種類を分けて検出する。</a:t>
            </a:r>
            <a:endParaRPr lang="en-US" sz="1080" dirty="0"/>
          </a:p>
        </p:txBody>
      </p:sp>
      <p:sp>
        <p:nvSpPr>
          <p:cNvPr id="24" name="Shape 20"/>
          <p:cNvSpPr/>
          <p:nvPr/>
        </p:nvSpPr>
        <p:spPr>
          <a:xfrm>
            <a:off x="6547104" y="4480560"/>
            <a:ext cx="4480560" cy="0"/>
          </a:xfrm>
          <a:prstGeom prst="line">
            <a:avLst/>
          </a:prstGeom>
          <a:noFill/>
          <a:ln w="15240">
            <a:solidFill>
              <a:srgbClr val="1BAE9D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565392" y="4681728"/>
            <a:ext cx="42976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肉同士が重なって見える例</a:t>
            </a:r>
            <a:endParaRPr lang="en-US" sz="920" dirty="0"/>
          </a:p>
        </p:txBody>
      </p:sp>
      <p:sp>
        <p:nvSpPr>
          <p:cNvPr id="26" name="Shape 22"/>
          <p:cNvSpPr/>
          <p:nvPr/>
        </p:nvSpPr>
        <p:spPr>
          <a:xfrm>
            <a:off x="713232" y="5596128"/>
            <a:ext cx="1371600" cy="292608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655564"/>
            <a:ext cx="11887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Key issue</a:t>
            </a:r>
            <a:endParaRPr lang="en-US" sz="760" dirty="0"/>
          </a:p>
        </p:txBody>
      </p:sp>
      <p:sp>
        <p:nvSpPr>
          <p:cNvPr id="28" name="Text 24"/>
          <p:cNvSpPr/>
          <p:nvPr/>
        </p:nvSpPr>
        <p:spPr>
          <a:xfrm>
            <a:off x="2331720" y="5605272"/>
            <a:ext cx="7452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背景に強いモデルから、重なった複数対象も分離できるモデルへ評価範囲を広げる</a:t>
            </a:r>
            <a:endParaRPr lang="en-US" sz="124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1章 はじめに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研究目的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06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508760"/>
            <a:ext cx="104241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97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YOLOとRoboflowを用いて、肉画像から肉の位置と種類を判定するモデルを構築し、認識性能と失敗要因を分析する。</a:t>
            </a:r>
            <a:endParaRPr lang="en-US" sz="2397" dirty="0"/>
          </a:p>
        </p:txBody>
      </p:sp>
      <p:sp>
        <p:nvSpPr>
          <p:cNvPr id="8" name="Shape 6"/>
          <p:cNvSpPr/>
          <p:nvPr/>
        </p:nvSpPr>
        <p:spPr>
          <a:xfrm>
            <a:off x="475488" y="3401568"/>
            <a:ext cx="3383280" cy="2011680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" y="370332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Build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86384" y="4224528"/>
            <a:ext cx="2761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肉画像データセットを作成し、YOLO形式で扱えるようにする</a:t>
            </a:r>
            <a:endParaRPr lang="en-US" sz="1360" dirty="0"/>
          </a:p>
        </p:txBody>
      </p:sp>
      <p:sp>
        <p:nvSpPr>
          <p:cNvPr id="11" name="Shape 9"/>
          <p:cNvSpPr/>
          <p:nvPr/>
        </p:nvSpPr>
        <p:spPr>
          <a:xfrm>
            <a:off x="4453128" y="3401568"/>
            <a:ext cx="3383280" cy="2011680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64024" y="370332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Measure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64024" y="4224528"/>
            <a:ext cx="2761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Precision、Recall、mAPで検出性能を確認する</a:t>
            </a:r>
            <a:endParaRPr lang="en-US" sz="1360" dirty="0"/>
          </a:p>
        </p:txBody>
      </p:sp>
      <p:sp>
        <p:nvSpPr>
          <p:cNvPr id="14" name="Shape 12"/>
          <p:cNvSpPr/>
          <p:nvPr/>
        </p:nvSpPr>
        <p:spPr>
          <a:xfrm>
            <a:off x="8430768" y="3401568"/>
            <a:ext cx="3383280" cy="2011680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741664" y="3703320"/>
            <a:ext cx="1234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5C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Explain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741664" y="4224528"/>
            <a:ext cx="27614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6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成功例と失敗例から、肉画像認識の課題を考察する</a:t>
            </a:r>
            <a:endParaRPr lang="en-US" sz="13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2章 手法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全体の流れ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07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93776" y="141732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1417320"/>
            <a:ext cx="566928" cy="1298448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190195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243584" y="1627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画像収集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243584" y="20391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肉画像を集める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3054096" y="2066544"/>
            <a:ext cx="292608" cy="0"/>
          </a:xfrm>
          <a:prstGeom prst="line">
            <a:avLst/>
          </a:prstGeom>
          <a:noFill/>
          <a:ln w="13970">
            <a:solidFill>
              <a:srgbClr val="E4DAD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19856" y="141732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19856" y="1417320"/>
            <a:ext cx="566928" cy="1298448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190195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4169664" y="1627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アノテーション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169664" y="20391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肉領域をBBox化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980176" y="2066544"/>
            <a:ext cx="292608" cy="0"/>
          </a:xfrm>
          <a:prstGeom prst="line">
            <a:avLst/>
          </a:prstGeom>
          <a:noFill/>
          <a:ln w="13970">
            <a:solidFill>
              <a:srgbClr val="E4DAD2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345936" y="141732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1417320"/>
            <a:ext cx="566928" cy="1298448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19672" y="190195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095744" y="1627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前処理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095744" y="20391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サイズ統一と分割</a:t>
            </a:r>
            <a:endParaRPr lang="en-US" sz="1020" dirty="0"/>
          </a:p>
        </p:txBody>
      </p:sp>
      <p:sp>
        <p:nvSpPr>
          <p:cNvPr id="24" name="Shape 22"/>
          <p:cNvSpPr/>
          <p:nvPr/>
        </p:nvSpPr>
        <p:spPr>
          <a:xfrm>
            <a:off x="8906256" y="2066544"/>
            <a:ext cx="292608" cy="0"/>
          </a:xfrm>
          <a:prstGeom prst="line">
            <a:avLst/>
          </a:prstGeom>
          <a:noFill/>
          <a:ln w="13970">
            <a:solidFill>
              <a:srgbClr val="E4DAD2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9272016" y="141732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72016" y="1417320"/>
            <a:ext cx="566928" cy="1298448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45752" y="190195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10021824" y="16276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データ拡張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10021824" y="203911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見え方の揺れを補う</a:t>
            </a:r>
            <a:endParaRPr lang="en-US" sz="1020" dirty="0"/>
          </a:p>
        </p:txBody>
      </p:sp>
      <p:sp>
        <p:nvSpPr>
          <p:cNvPr id="30" name="Shape 28"/>
          <p:cNvSpPr/>
          <p:nvPr/>
        </p:nvSpPr>
        <p:spPr>
          <a:xfrm>
            <a:off x="493776" y="365760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3776" y="3657600"/>
            <a:ext cx="566928" cy="1298448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512" y="41422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1243584" y="3867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YOLO学習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1243584" y="4279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位置とクラスを学習</a:t>
            </a:r>
            <a:endParaRPr lang="en-US" sz="1020" dirty="0"/>
          </a:p>
        </p:txBody>
      </p:sp>
      <p:sp>
        <p:nvSpPr>
          <p:cNvPr id="35" name="Shape 33"/>
          <p:cNvSpPr/>
          <p:nvPr/>
        </p:nvSpPr>
        <p:spPr>
          <a:xfrm>
            <a:off x="3054096" y="4306824"/>
            <a:ext cx="292608" cy="0"/>
          </a:xfrm>
          <a:prstGeom prst="line">
            <a:avLst/>
          </a:prstGeom>
          <a:noFill/>
          <a:ln w="13970">
            <a:solidFill>
              <a:srgbClr val="E4DAD2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3419856" y="365760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419856" y="3657600"/>
            <a:ext cx="566928" cy="1298448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93592" y="41422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4169664" y="3867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推論・評価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4169664" y="4279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指標と画像で確認</a:t>
            </a:r>
            <a:endParaRPr lang="en-US" sz="1020" dirty="0"/>
          </a:p>
        </p:txBody>
      </p:sp>
      <p:sp>
        <p:nvSpPr>
          <p:cNvPr id="41" name="Shape 39"/>
          <p:cNvSpPr/>
          <p:nvPr/>
        </p:nvSpPr>
        <p:spPr>
          <a:xfrm>
            <a:off x="5980176" y="4306824"/>
            <a:ext cx="292608" cy="0"/>
          </a:xfrm>
          <a:prstGeom prst="line">
            <a:avLst/>
          </a:prstGeom>
          <a:noFill/>
          <a:ln w="13970">
            <a:solidFill>
              <a:srgbClr val="E4DAD2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6345936" y="3657600"/>
            <a:ext cx="2487168" cy="129844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45936" y="3657600"/>
            <a:ext cx="566928" cy="1298448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519672" y="4142232"/>
            <a:ext cx="2194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7</a:t>
            </a:r>
            <a:endParaRPr lang="en-US" sz="1150" dirty="0"/>
          </a:p>
        </p:txBody>
      </p:sp>
      <p:sp>
        <p:nvSpPr>
          <p:cNvPr id="45" name="Text 43"/>
          <p:cNvSpPr/>
          <p:nvPr/>
        </p:nvSpPr>
        <p:spPr>
          <a:xfrm>
            <a:off x="7095744" y="386791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考察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095744" y="4279392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失敗要因を整理</a:t>
            </a:r>
            <a:endParaRPr lang="en-US" sz="1020" dirty="0"/>
          </a:p>
        </p:txBody>
      </p:sp>
      <p:sp>
        <p:nvSpPr>
          <p:cNvPr id="47" name="Text 45"/>
          <p:cNvSpPr/>
          <p:nvPr/>
        </p:nvSpPr>
        <p:spPr>
          <a:xfrm>
            <a:off x="731520" y="5989320"/>
            <a:ext cx="80467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Roboflowで作ったデータセットをYOLOに渡し、検出結果と誤り方を確認する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2章 手法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データセット作成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08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31673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1. データ分布</a:t>
            </a:r>
            <a:endParaRPr lang="en-US" sz="1450" dirty="0"/>
          </a:p>
        </p:txBody>
      </p:sp>
      <p:pic>
        <p:nvPicPr>
          <p:cNvPr id="8" name="Image 0" descr="/Users/abesouichirou/Documents/utokyo_lecture/programming1/detect_results/train/labe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719072"/>
            <a:ext cx="3063240" cy="30632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5010912"/>
            <a:ext cx="2880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クラス数とBBoxの位置・大きさを確認</a:t>
            </a:r>
            <a:endParaRPr lang="en-US" sz="1060" dirty="0"/>
          </a:p>
        </p:txBody>
      </p:sp>
      <p:sp>
        <p:nvSpPr>
          <p:cNvPr id="10" name="Text 7"/>
          <p:cNvSpPr/>
          <p:nvPr/>
        </p:nvSpPr>
        <p:spPr>
          <a:xfrm>
            <a:off x="4160520" y="1316736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2. 対象クラス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160520" y="1810512"/>
            <a:ext cx="1371600" cy="365760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242816" y="1906524"/>
            <a:ext cx="12070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beef</a:t>
            </a:r>
            <a:endParaRPr lang="en-US" sz="820" dirty="0"/>
          </a:p>
        </p:txBody>
      </p:sp>
      <p:sp>
        <p:nvSpPr>
          <p:cNvPr id="13" name="Shape 10"/>
          <p:cNvSpPr/>
          <p:nvPr/>
        </p:nvSpPr>
        <p:spPr>
          <a:xfrm>
            <a:off x="5824728" y="1810512"/>
            <a:ext cx="1371600" cy="365760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07024" y="1906524"/>
            <a:ext cx="12070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chicken</a:t>
            </a:r>
            <a:endParaRPr lang="en-US" sz="820" dirty="0"/>
          </a:p>
        </p:txBody>
      </p:sp>
      <p:sp>
        <p:nvSpPr>
          <p:cNvPr id="15" name="Shape 12"/>
          <p:cNvSpPr/>
          <p:nvPr/>
        </p:nvSpPr>
        <p:spPr>
          <a:xfrm>
            <a:off x="4160520" y="2468880"/>
            <a:ext cx="1371600" cy="365760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242816" y="2564892"/>
            <a:ext cx="12070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lamb</a:t>
            </a:r>
            <a:endParaRPr lang="en-US" sz="820" dirty="0"/>
          </a:p>
        </p:txBody>
      </p:sp>
      <p:sp>
        <p:nvSpPr>
          <p:cNvPr id="17" name="Shape 14"/>
          <p:cNvSpPr/>
          <p:nvPr/>
        </p:nvSpPr>
        <p:spPr>
          <a:xfrm>
            <a:off x="5824728" y="2468880"/>
            <a:ext cx="1371600" cy="365760"/>
          </a:xfrm>
          <a:prstGeom prst="rect">
            <a:avLst/>
          </a:prstGeom>
          <a:solidFill>
            <a:srgbClr val="D94E59"/>
          </a:solidFill>
          <a:ln w="12700">
            <a:solidFill>
              <a:srgbClr val="D94E59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907024" y="2564892"/>
            <a:ext cx="120700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pork</a:t>
            </a:r>
            <a:endParaRPr lang="en-US" sz="820" dirty="0"/>
          </a:p>
        </p:txBody>
      </p:sp>
      <p:sp>
        <p:nvSpPr>
          <p:cNvPr id="19" name="Text 16"/>
          <p:cNvSpPr/>
          <p:nvPr/>
        </p:nvSpPr>
        <p:spPr>
          <a:xfrm>
            <a:off x="4224528" y="3246120"/>
            <a:ext cx="3337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画像中の肉だけをバウンディングボックスで指定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画像全体ではなく、位置と種類を同時に学習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train / validation / test に分割して評価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Roboflowでデータセットのバージョンを管理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4160520" y="4782312"/>
            <a:ext cx="3154680" cy="0"/>
          </a:xfrm>
          <a:prstGeom prst="line">
            <a:avLst/>
          </a:prstGeom>
          <a:noFill/>
          <a:ln w="10160">
            <a:solidFill>
              <a:srgbClr val="E4DAD2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187952" y="50109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位置と種類を同時に学習できる形へ変換する</a:t>
            </a:r>
            <a:endParaRPr lang="en-US" sz="1060" dirty="0"/>
          </a:p>
        </p:txBody>
      </p:sp>
      <p:sp>
        <p:nvSpPr>
          <p:cNvPr id="22" name="Text 19"/>
          <p:cNvSpPr/>
          <p:nvPr/>
        </p:nvSpPr>
        <p:spPr>
          <a:xfrm>
            <a:off x="8065008" y="1316736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3. Annotation</a:t>
            </a:r>
            <a:endParaRPr lang="en-US" sz="1450" dirty="0"/>
          </a:p>
        </p:txBody>
      </p:sp>
      <p:pic>
        <p:nvPicPr>
          <p:cNvPr id="23" name="Image 1" descr="/Users/abesouichirou/Documents/utokyo_lecture/programming1/detect_results/train/val_batch0_pred.jpg">    </p:cNvPr>
          <p:cNvPicPr>
            <a:picLocks noChangeAspect="1"/>
          </p:cNvPicPr>
          <p:nvPr/>
        </p:nvPicPr>
        <p:blipFill>
          <a:blip r:embed="rId2"/>
          <a:srcRect l="32000" r="16096" t="20000" b="34000"/>
          <a:stretch/>
        </p:blipFill>
        <p:spPr>
          <a:xfrm>
            <a:off x="8065008" y="1719072"/>
            <a:ext cx="3456432" cy="3063240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8065008" y="5001768"/>
            <a:ext cx="1280160" cy="347472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339328" y="5093208"/>
            <a:ext cx="731520" cy="100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BBox</a:t>
            </a:r>
            <a:endParaRPr lang="en-US" sz="860" dirty="0"/>
          </a:p>
        </p:txBody>
      </p:sp>
      <p:sp>
        <p:nvSpPr>
          <p:cNvPr id="26" name="Text 22"/>
          <p:cNvSpPr/>
          <p:nvPr/>
        </p:nvSpPr>
        <p:spPr>
          <a:xfrm>
            <a:off x="9528048" y="504748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6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YOLOの教師信号として使う</a:t>
            </a:r>
            <a:endParaRPr lang="en-US" sz="10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2章 手法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Roboflowでの工夫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09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353312"/>
            <a:ext cx="5715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肉画像は撮影条件に左右されるため、データ側で揺れを持たせる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804672" y="2029968"/>
            <a:ext cx="146304" cy="146304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43000" y="1984248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05C8A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Resize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2514600" y="1975104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画像サイズを640pxに統一</a:t>
            </a:r>
            <a:endParaRPr lang="en-US" sz="1340" dirty="0"/>
          </a:p>
        </p:txBody>
      </p:sp>
      <p:sp>
        <p:nvSpPr>
          <p:cNvPr id="11" name="Shape 9"/>
          <p:cNvSpPr/>
          <p:nvPr/>
        </p:nvSpPr>
        <p:spPr>
          <a:xfrm>
            <a:off x="804672" y="2359152"/>
            <a:ext cx="516636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04672" y="2651760"/>
            <a:ext cx="146304" cy="146304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2606040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Split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2514600" y="2596896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学習、検証、テストに分割</a:t>
            </a:r>
            <a:endParaRPr lang="en-US" sz="1340" dirty="0"/>
          </a:p>
        </p:txBody>
      </p:sp>
      <p:sp>
        <p:nvSpPr>
          <p:cNvPr id="15" name="Shape 13"/>
          <p:cNvSpPr/>
          <p:nvPr/>
        </p:nvSpPr>
        <p:spPr>
          <a:xfrm>
            <a:off x="804672" y="2980944"/>
            <a:ext cx="516636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3273552"/>
            <a:ext cx="146304" cy="146304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43000" y="3227832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Augment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4600" y="3218688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反転、拡大縮小、色変化など</a:t>
            </a:r>
            <a:endParaRPr lang="en-US" sz="1340" dirty="0"/>
          </a:p>
        </p:txBody>
      </p:sp>
      <p:sp>
        <p:nvSpPr>
          <p:cNvPr id="19" name="Shape 17"/>
          <p:cNvSpPr/>
          <p:nvPr/>
        </p:nvSpPr>
        <p:spPr>
          <a:xfrm>
            <a:off x="804672" y="3602736"/>
            <a:ext cx="516636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3895344"/>
            <a:ext cx="146304" cy="146304"/>
          </a:xfrm>
          <a:prstGeom prst="rect">
            <a:avLst/>
          </a:prstGeom>
          <a:solidFill>
            <a:srgbClr val="D94E59"/>
          </a:solidFill>
          <a:ln w="12700">
            <a:solidFill>
              <a:srgbClr val="D94E59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" y="3849624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94E5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Add data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514600" y="3840480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重なりケースを追加して再学習</a:t>
            </a:r>
            <a:endParaRPr lang="en-US" sz="1340" dirty="0"/>
          </a:p>
        </p:txBody>
      </p:sp>
      <p:sp>
        <p:nvSpPr>
          <p:cNvPr id="23" name="Shape 21"/>
          <p:cNvSpPr/>
          <p:nvPr/>
        </p:nvSpPr>
        <p:spPr>
          <a:xfrm>
            <a:off x="804672" y="4224528"/>
            <a:ext cx="516636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" y="4517136"/>
            <a:ext cx="146304" cy="146304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43000" y="4471416"/>
            <a:ext cx="109728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79B3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Export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2514600" y="4462272"/>
            <a:ext cx="3291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4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YOLO形式で出力</a:t>
            </a:r>
            <a:endParaRPr lang="en-US" sz="1340" dirty="0"/>
          </a:p>
        </p:txBody>
      </p:sp>
      <p:sp>
        <p:nvSpPr>
          <p:cNvPr id="27" name="Shape 25"/>
          <p:cNvSpPr/>
          <p:nvPr/>
        </p:nvSpPr>
        <p:spPr>
          <a:xfrm>
            <a:off x="804672" y="4846320"/>
            <a:ext cx="516636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20840" y="1627632"/>
            <a:ext cx="4498848" cy="3611880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86600" y="201168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オリジナリティ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7086600" y="2450592"/>
            <a:ext cx="370332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38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背景差と重なりを分けて検証できるよう、データセット設計と失敗例分析を重視した</a:t>
            </a:r>
            <a:endParaRPr lang="en-US" sz="1638" dirty="0"/>
          </a:p>
        </p:txBody>
      </p:sp>
      <p:sp>
        <p:nvSpPr>
          <p:cNvPr id="31" name="Text 29"/>
          <p:cNvSpPr/>
          <p:nvPr/>
        </p:nvSpPr>
        <p:spPr>
          <a:xfrm>
            <a:off x="7114032" y="400507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3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追加学習では、複数の肉片が接触する画像を増やし、BBoxの分離性能も確認する。</a:t>
            </a:r>
            <a:endParaRPr lang="en-US" sz="103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2章 手法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YOLOによる学習と担当分担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694944" y="1353312"/>
            <a:ext cx="3794760" cy="431596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75564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学習設定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987552" y="2249424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model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1920240" y="2231136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yolo11s.pt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987552" y="2688336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epochs</a:t>
            </a:r>
            <a:endParaRPr lang="en-US" sz="920" dirty="0"/>
          </a:p>
        </p:txBody>
      </p:sp>
      <p:sp>
        <p:nvSpPr>
          <p:cNvPr id="12" name="Text 10"/>
          <p:cNvSpPr/>
          <p:nvPr/>
        </p:nvSpPr>
        <p:spPr>
          <a:xfrm>
            <a:off x="1920240" y="2670048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100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987552" y="3127248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imgsz</a:t>
            </a:r>
            <a:endParaRPr lang="en-US" sz="920" dirty="0"/>
          </a:p>
        </p:txBody>
      </p:sp>
      <p:sp>
        <p:nvSpPr>
          <p:cNvPr id="14" name="Text 12"/>
          <p:cNvSpPr/>
          <p:nvPr/>
        </p:nvSpPr>
        <p:spPr>
          <a:xfrm>
            <a:off x="1920240" y="3108960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640</a:t>
            </a:r>
            <a:endParaRPr lang="en-US" sz="1180" dirty="0"/>
          </a:p>
        </p:txBody>
      </p:sp>
      <p:sp>
        <p:nvSpPr>
          <p:cNvPr id="15" name="Text 13"/>
          <p:cNvSpPr/>
          <p:nvPr/>
        </p:nvSpPr>
        <p:spPr>
          <a:xfrm>
            <a:off x="987552" y="3566160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batch</a:t>
            </a:r>
            <a:endParaRPr lang="en-US" sz="920" dirty="0"/>
          </a:p>
        </p:txBody>
      </p:sp>
      <p:sp>
        <p:nvSpPr>
          <p:cNvPr id="16" name="Text 14"/>
          <p:cNvSpPr/>
          <p:nvPr/>
        </p:nvSpPr>
        <p:spPr>
          <a:xfrm>
            <a:off x="1920240" y="3547872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</a:t>
            </a:r>
            <a:endParaRPr lang="en-US" sz="1180" dirty="0"/>
          </a:p>
        </p:txBody>
      </p:sp>
      <p:sp>
        <p:nvSpPr>
          <p:cNvPr id="17" name="Text 15"/>
          <p:cNvSpPr/>
          <p:nvPr/>
        </p:nvSpPr>
        <p:spPr>
          <a:xfrm>
            <a:off x="987552" y="4005072"/>
            <a:ext cx="7772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task</a:t>
            </a:r>
            <a:endParaRPr lang="en-US" sz="920" dirty="0"/>
          </a:p>
        </p:txBody>
      </p:sp>
      <p:sp>
        <p:nvSpPr>
          <p:cNvPr id="18" name="Text 16"/>
          <p:cNvSpPr/>
          <p:nvPr/>
        </p:nvSpPr>
        <p:spPr>
          <a:xfrm>
            <a:off x="1920240" y="3986784"/>
            <a:ext cx="17373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detect</a:t>
            </a:r>
            <a:endParaRPr lang="en-US" sz="1180" dirty="0"/>
          </a:p>
        </p:txBody>
      </p:sp>
      <p:sp>
        <p:nvSpPr>
          <p:cNvPr id="19" name="Text 17"/>
          <p:cNvSpPr/>
          <p:nvPr/>
        </p:nvSpPr>
        <p:spPr>
          <a:xfrm>
            <a:off x="4754880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入力</a:t>
            </a:r>
            <a:endParaRPr lang="en-US" sz="1120" dirty="0"/>
          </a:p>
        </p:txBody>
      </p:sp>
      <p:pic>
        <p:nvPicPr>
          <p:cNvPr id="20" name="Image 0" descr="/Users/abesouichirou/Documents/utokyo_lecture/programming1/detect_results/predict/IMG_2571_jpg.rf.ede6c052f742170fc837e6c3e2b0ed3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00600" y="2157984"/>
            <a:ext cx="1572768" cy="1572768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6473952" y="2944368"/>
            <a:ext cx="475488" cy="0"/>
          </a:xfrm>
          <a:prstGeom prst="line">
            <a:avLst/>
          </a:prstGeom>
          <a:noFill/>
          <a:ln w="17780">
            <a:solidFill>
              <a:srgbClr val="1BAE9D"/>
            </a:solidFill>
            <a:prstDash val="solid"/>
            <a:tailEnd type="triangle"/>
          </a:ln>
        </p:spPr>
      </p:sp>
      <p:sp>
        <p:nvSpPr>
          <p:cNvPr id="22" name="Text 19"/>
          <p:cNvSpPr/>
          <p:nvPr/>
        </p:nvSpPr>
        <p:spPr>
          <a:xfrm>
            <a:off x="7040880" y="2816352"/>
            <a:ext cx="749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7726680" y="2944368"/>
            <a:ext cx="502920" cy="0"/>
          </a:xfrm>
          <a:prstGeom prst="line">
            <a:avLst/>
          </a:prstGeom>
          <a:noFill/>
          <a:ln w="17780">
            <a:solidFill>
              <a:srgbClr val="1BAE9D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8302752" y="184708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出力</a:t>
            </a:r>
            <a:endParaRPr lang="en-US" sz="1120" dirty="0"/>
          </a:p>
        </p:txBody>
      </p:sp>
      <p:sp>
        <p:nvSpPr>
          <p:cNvPr id="25" name="Shape 22"/>
          <p:cNvSpPr/>
          <p:nvPr/>
        </p:nvSpPr>
        <p:spPr>
          <a:xfrm>
            <a:off x="8302752" y="2176272"/>
            <a:ext cx="2788920" cy="1481328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613648" y="2459736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3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肉の位置</a:t>
            </a:r>
            <a:endParaRPr lang="en-US" sz="1430" dirty="0"/>
          </a:p>
          <a:p>
            <a:pPr indent="0" marL="0">
              <a:buNone/>
            </a:pPr>
            <a:r>
              <a:rPr lang="en-US" sz="143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種類ラベル</a:t>
            </a:r>
            <a:endParaRPr lang="en-US" sz="1430" dirty="0"/>
          </a:p>
          <a:p>
            <a:pPr indent="0" marL="0">
              <a:buNone/>
            </a:pPr>
            <a:r>
              <a:rPr lang="en-US" sz="143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confidence</a:t>
            </a:r>
            <a:endParaRPr lang="en-US" sz="1430" dirty="0"/>
          </a:p>
        </p:txBody>
      </p:sp>
      <p:sp>
        <p:nvSpPr>
          <p:cNvPr id="27" name="Shape 24"/>
          <p:cNvSpPr/>
          <p:nvPr/>
        </p:nvSpPr>
        <p:spPr>
          <a:xfrm>
            <a:off x="4709160" y="4297680"/>
            <a:ext cx="6263640" cy="73152"/>
          </a:xfrm>
          <a:prstGeom prst="rect">
            <a:avLst/>
          </a:prstGeom>
          <a:solidFill>
            <a:srgbClr val="E4DAD2"/>
          </a:solidFill>
          <a:ln w="12700">
            <a:solidFill>
              <a:srgbClr val="E4DAD2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36592" y="46451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担当分担</a:t>
            </a:r>
            <a:endParaRPr lang="en-US" sz="1550" dirty="0"/>
          </a:p>
        </p:txBody>
      </p:sp>
      <p:sp>
        <p:nvSpPr>
          <p:cNvPr id="29" name="Text 26"/>
          <p:cNvSpPr/>
          <p:nvPr/>
        </p:nvSpPr>
        <p:spPr>
          <a:xfrm>
            <a:off x="6263640" y="4663440"/>
            <a:ext cx="45262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データ収集 / アノテーション / 前処理 / 学習 / 評価 / 発表資料</a:t>
            </a:r>
            <a:endParaRPr lang="en-US" sz="112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3章 結果と考察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学習結果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85800" y="13533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最終epochの評価指標</a:t>
            </a:r>
            <a:endParaRPr lang="en-US" sz="1750" dirty="0"/>
          </a:p>
        </p:txBody>
      </p:sp>
      <p:sp>
        <p:nvSpPr>
          <p:cNvPr id="8" name="Text 6"/>
          <p:cNvSpPr/>
          <p:nvPr/>
        </p:nvSpPr>
        <p:spPr>
          <a:xfrm>
            <a:off x="749808" y="1901952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Precision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2084832" y="1920240"/>
            <a:ext cx="2240280" cy="164592"/>
          </a:xfrm>
          <a:prstGeom prst="rect">
            <a:avLst/>
          </a:prstGeom>
          <a:solidFill>
            <a:srgbClr val="E4DAD2"/>
          </a:solidFill>
          <a:ln w="12700">
            <a:solidFill>
              <a:srgbClr val="E4DAD2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84832" y="1920240"/>
            <a:ext cx="1989772" cy="164592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70832" y="1883664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88.8%</a:t>
            </a:r>
            <a:endParaRPr lang="en-US" sz="1020" dirty="0"/>
          </a:p>
        </p:txBody>
      </p:sp>
      <p:sp>
        <p:nvSpPr>
          <p:cNvPr id="12" name="Text 10"/>
          <p:cNvSpPr/>
          <p:nvPr/>
        </p:nvSpPr>
        <p:spPr>
          <a:xfrm>
            <a:off x="749808" y="2560320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Recall</a:t>
            </a:r>
            <a:endParaRPr lang="en-US" sz="1020" dirty="0"/>
          </a:p>
        </p:txBody>
      </p:sp>
      <p:sp>
        <p:nvSpPr>
          <p:cNvPr id="13" name="Shape 11"/>
          <p:cNvSpPr/>
          <p:nvPr/>
        </p:nvSpPr>
        <p:spPr>
          <a:xfrm>
            <a:off x="2084832" y="2578608"/>
            <a:ext cx="2240280" cy="164592"/>
          </a:xfrm>
          <a:prstGeom prst="rect">
            <a:avLst/>
          </a:prstGeom>
          <a:solidFill>
            <a:srgbClr val="E4DAD2"/>
          </a:solidFill>
          <a:ln w="12700">
            <a:solidFill>
              <a:srgbClr val="E4DAD2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084832" y="2578608"/>
            <a:ext cx="1765587" cy="164592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70832" y="2542032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78.8%</a:t>
            </a:r>
            <a:endParaRPr lang="en-US" sz="1020" dirty="0"/>
          </a:p>
        </p:txBody>
      </p:sp>
      <p:sp>
        <p:nvSpPr>
          <p:cNvPr id="16" name="Text 14"/>
          <p:cNvSpPr/>
          <p:nvPr/>
        </p:nvSpPr>
        <p:spPr>
          <a:xfrm>
            <a:off x="749808" y="3218688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mAP50</a:t>
            </a:r>
            <a:endParaRPr lang="en-US" sz="1020" dirty="0"/>
          </a:p>
        </p:txBody>
      </p:sp>
      <p:sp>
        <p:nvSpPr>
          <p:cNvPr id="17" name="Shape 15"/>
          <p:cNvSpPr/>
          <p:nvPr/>
        </p:nvSpPr>
        <p:spPr>
          <a:xfrm>
            <a:off x="2084832" y="3236976"/>
            <a:ext cx="2240280" cy="164592"/>
          </a:xfrm>
          <a:prstGeom prst="rect">
            <a:avLst/>
          </a:prstGeom>
          <a:solidFill>
            <a:srgbClr val="E4DAD2"/>
          </a:solidFill>
          <a:ln w="12700">
            <a:solidFill>
              <a:srgbClr val="E4DAD2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84832" y="3236976"/>
            <a:ext cx="1941561" cy="164592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70832" y="3200400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86.7%</a:t>
            </a:r>
            <a:endParaRPr lang="en-US" sz="1020" dirty="0"/>
          </a:p>
        </p:txBody>
      </p:sp>
      <p:sp>
        <p:nvSpPr>
          <p:cNvPr id="20" name="Text 18"/>
          <p:cNvSpPr/>
          <p:nvPr/>
        </p:nvSpPr>
        <p:spPr>
          <a:xfrm>
            <a:off x="749808" y="3877056"/>
            <a:ext cx="12344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mAP50-95</a:t>
            </a:r>
            <a:endParaRPr lang="en-US" sz="1020" dirty="0"/>
          </a:p>
        </p:txBody>
      </p:sp>
      <p:sp>
        <p:nvSpPr>
          <p:cNvPr id="21" name="Shape 19"/>
          <p:cNvSpPr/>
          <p:nvPr/>
        </p:nvSpPr>
        <p:spPr>
          <a:xfrm>
            <a:off x="2084832" y="3895344"/>
            <a:ext cx="2240280" cy="164592"/>
          </a:xfrm>
          <a:prstGeom prst="rect">
            <a:avLst/>
          </a:prstGeom>
          <a:solidFill>
            <a:srgbClr val="E4DAD2"/>
          </a:solidFill>
          <a:ln w="12700">
            <a:solidFill>
              <a:srgbClr val="E4DAD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84832" y="3895344"/>
            <a:ext cx="1422264" cy="164592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3858768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2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63.5%</a:t>
            </a:r>
            <a:endParaRPr lang="en-US" sz="1020" dirty="0"/>
          </a:p>
        </p:txBody>
      </p:sp>
      <p:sp>
        <p:nvSpPr>
          <p:cNvPr id="24" name="Text 22"/>
          <p:cNvSpPr/>
          <p:nvPr/>
        </p:nvSpPr>
        <p:spPr>
          <a:xfrm>
            <a:off x="749808" y="4864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一定条件では検出できたが、mAP50-95は63.5%で、厳密な位置合わせには改善余地がある。</a:t>
            </a:r>
            <a:endParaRPr lang="en-US" sz="1240" dirty="0"/>
          </a:p>
        </p:txBody>
      </p:sp>
      <p:pic>
        <p:nvPicPr>
          <p:cNvPr id="25" name="Image 0" descr="/Users/abesouichirou/Documents/utokyo_lecture/programming1/detect_results/train/resul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96128" y="1981962"/>
            <a:ext cx="5715000" cy="2857500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5650992" y="5687568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出典: detect_results/train/results.csv, results.png</a:t>
            </a:r>
            <a:endParaRPr lang="en-US" sz="7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3章 結果と考察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推論例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12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13232" y="12984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単体では判定できても、重なりでは pork に寄る誤判定が出る</a:t>
            </a:r>
            <a:endParaRPr lang="en-US" sz="1400" dirty="0"/>
          </a:p>
        </p:txBody>
      </p:sp>
      <p:pic>
        <p:nvPicPr>
          <p:cNvPr id="8" name="Image 0" descr="/Users/abesouichirou/Documents/utokyo_lecture/programming1/detect_results/predict/IMG_2571_jpg.rf.ede6c052f742170fc837e6c3e2b0ed39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1792224"/>
            <a:ext cx="2487168" cy="2487168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76656" y="1792224"/>
            <a:ext cx="2487168" cy="2487168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1BAE9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76656" y="1792224"/>
            <a:ext cx="2487168" cy="310896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68096" y="1856232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単体: lamb 0.81</a:t>
            </a:r>
            <a:endParaRPr lang="en-US" sz="830" dirty="0"/>
          </a:p>
        </p:txBody>
      </p:sp>
      <p:pic>
        <p:nvPicPr>
          <p:cNvPr id="12" name="Image 1" descr="/Users/abesouichirou/Documents/utokyo_lecture/programming1/detect_results/predict/category-pork-1024x768_png.rf.572d8e91e0194c0c525ee4144dfe7ca4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10128" y="1792224"/>
            <a:ext cx="2487168" cy="2487168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3310128" y="1792224"/>
            <a:ext cx="2487168" cy="2487168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D94E5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310128" y="1792224"/>
            <a:ext cx="2487168" cy="310896"/>
          </a:xfrm>
          <a:prstGeom prst="rect">
            <a:avLst/>
          </a:prstGeom>
          <a:solidFill>
            <a:srgbClr val="D94E59"/>
          </a:solidFill>
          <a:ln w="12700">
            <a:solidFill>
              <a:srgbClr val="D94E59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401568" y="1856232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単体: pork 0.58</a:t>
            </a:r>
            <a:endParaRPr lang="en-US" sz="830" dirty="0"/>
          </a:p>
        </p:txBody>
      </p:sp>
      <p:pic>
        <p:nvPicPr>
          <p:cNvPr id="16" name="Image 2" descr="/Users/abesouichirou/Documents/utokyo_lecture/programming1/detect_results/predict/Screenshot-2025-04-02-234238_png.rf.f6aab08a21fe6901ec6b99459aaae9c8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43600" y="1792224"/>
            <a:ext cx="2487168" cy="248716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5943600" y="1792224"/>
            <a:ext cx="2487168" cy="2487168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8E2335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943600" y="1792224"/>
            <a:ext cx="2487168" cy="310896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6035040" y="1856232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重なり: pork 0.36 / 0.46</a:t>
            </a:r>
            <a:endParaRPr lang="en-US" sz="830" dirty="0"/>
          </a:p>
        </p:txBody>
      </p:sp>
      <p:pic>
        <p:nvPicPr>
          <p:cNvPr id="20" name="Image 3" descr="/Users/abesouichirou/Documents/utokyo_lecture/programming1/detect_results/predict/IMG_2531_jpg.rf.f79a1b88fc9ef9a5564c42be115c7bb8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577072" y="1792224"/>
            <a:ext cx="2487168" cy="2487168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8577072" y="1792224"/>
            <a:ext cx="2487168" cy="2487168"/>
          </a:xfrm>
          <a:prstGeom prst="rect">
            <a:avLst/>
          </a:prstGeom>
          <a:solidFill>
            <a:srgbClr val="FFFFFF">
              <a:alpha val="0"/>
            </a:srgbClr>
          </a:solidFill>
          <a:ln w="13970">
            <a:solidFill>
              <a:srgbClr val="305C8A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577072" y="1792224"/>
            <a:ext cx="2487168" cy="310896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668512" y="1856232"/>
            <a:ext cx="23042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3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重なり: BBoxが不安定</a:t>
            </a:r>
            <a:endParaRPr lang="en-US" sz="830" dirty="0"/>
          </a:p>
        </p:txBody>
      </p:sp>
      <p:sp>
        <p:nvSpPr>
          <p:cNvPr id="24" name="Shape 18"/>
          <p:cNvSpPr/>
          <p:nvPr/>
        </p:nvSpPr>
        <p:spPr>
          <a:xfrm>
            <a:off x="932688" y="4736592"/>
            <a:ext cx="4681728" cy="786384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1161288" y="4919472"/>
            <a:ext cx="1463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追加した検証</a:t>
            </a:r>
            <a:endParaRPr lang="en-US" sz="940" dirty="0"/>
          </a:p>
        </p:txBody>
      </p:sp>
      <p:sp>
        <p:nvSpPr>
          <p:cNvPr id="26" name="Text 20"/>
          <p:cNvSpPr/>
          <p:nvPr/>
        </p:nvSpPr>
        <p:spPr>
          <a:xfrm>
            <a:off x="2651760" y="49011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複数種類の肉が重なっている画像を推論し、BBoxとラベルの出方を確認した</a:t>
            </a:r>
            <a:endParaRPr lang="en-US" sz="950" dirty="0"/>
          </a:p>
        </p:txBody>
      </p:sp>
      <p:sp>
        <p:nvSpPr>
          <p:cNvPr id="27" name="Shape 21"/>
          <p:cNvSpPr/>
          <p:nvPr/>
        </p:nvSpPr>
        <p:spPr>
          <a:xfrm>
            <a:off x="6345936" y="4736592"/>
            <a:ext cx="4681728" cy="786384"/>
          </a:xfrm>
          <a:prstGeom prst="rect">
            <a:avLst/>
          </a:prstGeom>
          <a:solidFill>
            <a:srgbClr val="FFFDF9"/>
          </a:solidFill>
          <a:ln w="12700">
            <a:solidFill>
              <a:srgbClr val="E4DAD2"/>
            </a:solidFill>
            <a:prstDash val="solid"/>
          </a:ln>
        </p:spPr>
      </p:sp>
      <p:sp>
        <p:nvSpPr>
          <p:cNvPr id="28" name="Text 22"/>
          <p:cNvSpPr/>
          <p:nvPr/>
        </p:nvSpPr>
        <p:spPr>
          <a:xfrm>
            <a:off x="6574536" y="4919472"/>
            <a:ext cx="14630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見えた課題</a:t>
            </a:r>
            <a:endParaRPr lang="en-US" sz="940" dirty="0"/>
          </a:p>
        </p:txBody>
      </p:sp>
      <p:sp>
        <p:nvSpPr>
          <p:cNvPr id="29" name="Text 23"/>
          <p:cNvSpPr/>
          <p:nvPr/>
        </p:nvSpPr>
        <p:spPr>
          <a:xfrm>
            <a:off x="8065008" y="4901184"/>
            <a:ext cx="26700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重なり部分では境界が曖昧になり、pork として誤って検出されやすい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30352" y="292608"/>
            <a:ext cx="1600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dirty="0">
                <a:solidFill>
                  <a:srgbClr val="8E233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3章 結果と考察</a:t>
            </a:r>
            <a:endParaRPr lang="en-US" sz="840" dirty="0"/>
          </a:p>
        </p:txBody>
      </p:sp>
      <p:sp>
        <p:nvSpPr>
          <p:cNvPr id="4" name="Text 2"/>
          <p:cNvSpPr/>
          <p:nvPr/>
        </p:nvSpPr>
        <p:spPr>
          <a:xfrm>
            <a:off x="530352" y="557784"/>
            <a:ext cx="7406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結果の考察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0352" y="1024128"/>
            <a:ext cx="11064240" cy="0"/>
          </a:xfrm>
          <a:prstGeom prst="line">
            <a:avLst/>
          </a:prstGeom>
          <a:noFill/>
          <a:ln w="12700">
            <a:solidFill>
              <a:srgbClr val="E4DAD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13</a:t>
            </a:r>
            <a:endParaRPr lang="en-US" sz="850" dirty="0"/>
          </a:p>
        </p:txBody>
      </p:sp>
      <p:pic>
        <p:nvPicPr>
          <p:cNvPr id="7" name="Image 0" descr="/Users/abesouichirou/Documents/utokyo_lecture/programming1/detect_results/train/confusion_matr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" y="1564767"/>
            <a:ext cx="5349240" cy="401193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0" y="1399032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混同行列から見えること</a:t>
            </a:r>
            <a:endParaRPr lang="en-US" sz="1750" dirty="0"/>
          </a:p>
        </p:txBody>
      </p:sp>
      <p:sp>
        <p:nvSpPr>
          <p:cNvPr id="9" name="Shape 6"/>
          <p:cNvSpPr/>
          <p:nvPr/>
        </p:nvSpPr>
        <p:spPr>
          <a:xfrm>
            <a:off x="6446520" y="1883664"/>
            <a:ext cx="128016" cy="128016"/>
          </a:xfrm>
          <a:prstGeom prst="rect">
            <a:avLst/>
          </a:prstGeom>
          <a:solidFill>
            <a:srgbClr val="1BAE9D"/>
          </a:solidFill>
          <a:ln w="12700">
            <a:solidFill>
              <a:srgbClr val="1BAE9D">
                <a:alpha val="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812280" y="1837944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判定できた点</a:t>
            </a:r>
            <a:endParaRPr lang="en-US" sz="1040" dirty="0"/>
          </a:p>
        </p:txBody>
      </p:sp>
      <p:sp>
        <p:nvSpPr>
          <p:cNvPr id="11" name="Text 8"/>
          <p:cNvSpPr/>
          <p:nvPr/>
        </p:nvSpPr>
        <p:spPr>
          <a:xfrm>
            <a:off x="8577072" y="1847088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単体で写る肉や特徴が強い画像では正解数が多い</a:t>
            </a:r>
            <a:endParaRPr lang="en-US" sz="970" dirty="0"/>
          </a:p>
        </p:txBody>
      </p:sp>
      <p:sp>
        <p:nvSpPr>
          <p:cNvPr id="12" name="Shape 9"/>
          <p:cNvSpPr/>
          <p:nvPr/>
        </p:nvSpPr>
        <p:spPr>
          <a:xfrm>
            <a:off x="6446520" y="2286000"/>
            <a:ext cx="466344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446520" y="2633472"/>
            <a:ext cx="128016" cy="128016"/>
          </a:xfrm>
          <a:prstGeom prst="rect">
            <a:avLst/>
          </a:prstGeom>
          <a:solidFill>
            <a:srgbClr val="D79B38"/>
          </a:solidFill>
          <a:ln w="12700">
            <a:solidFill>
              <a:srgbClr val="D79B38">
                <a:alpha val="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12280" y="2587752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工夫</a:t>
            </a:r>
            <a:endParaRPr lang="en-US" sz="1040" dirty="0"/>
          </a:p>
        </p:txBody>
      </p:sp>
      <p:sp>
        <p:nvSpPr>
          <p:cNvPr id="15" name="Text 12"/>
          <p:cNvSpPr/>
          <p:nvPr/>
        </p:nvSpPr>
        <p:spPr>
          <a:xfrm>
            <a:off x="8577072" y="2596896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重なった肉がうまく判定されなかったため、重なり画像を学習データに追加</a:t>
            </a:r>
            <a:endParaRPr lang="en-US" sz="970" dirty="0"/>
          </a:p>
        </p:txBody>
      </p:sp>
      <p:sp>
        <p:nvSpPr>
          <p:cNvPr id="16" name="Shape 13"/>
          <p:cNvSpPr/>
          <p:nvPr/>
        </p:nvSpPr>
        <p:spPr>
          <a:xfrm>
            <a:off x="6446520" y="3035808"/>
            <a:ext cx="466344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446520" y="3383280"/>
            <a:ext cx="128016" cy="128016"/>
          </a:xfrm>
          <a:prstGeom prst="rect">
            <a:avLst/>
          </a:prstGeom>
          <a:solidFill>
            <a:srgbClr val="305C8A"/>
          </a:solidFill>
          <a:ln w="12700">
            <a:solidFill>
              <a:srgbClr val="305C8A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812280" y="3337560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検証</a:t>
            </a:r>
            <a:endParaRPr lang="en-US" sz="1040" dirty="0"/>
          </a:p>
        </p:txBody>
      </p:sp>
      <p:sp>
        <p:nvSpPr>
          <p:cNvPr id="19" name="Text 16"/>
          <p:cNvSpPr/>
          <p:nvPr/>
        </p:nvSpPr>
        <p:spPr>
          <a:xfrm>
            <a:off x="8577072" y="3346704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複数種類の肉が重なる画像を判定させ、BBoxとラベルの出方を確認</a:t>
            </a:r>
            <a:endParaRPr lang="en-US" sz="970" dirty="0"/>
          </a:p>
        </p:txBody>
      </p:sp>
      <p:sp>
        <p:nvSpPr>
          <p:cNvPr id="20" name="Shape 17"/>
          <p:cNvSpPr/>
          <p:nvPr/>
        </p:nvSpPr>
        <p:spPr>
          <a:xfrm>
            <a:off x="6446520" y="3785616"/>
            <a:ext cx="466344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446520" y="4133088"/>
            <a:ext cx="128016" cy="128016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812280" y="4087368"/>
            <a:ext cx="15544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残る課題</a:t>
            </a:r>
            <a:endParaRPr lang="en-US" sz="1040" dirty="0"/>
          </a:p>
        </p:txBody>
      </p:sp>
      <p:sp>
        <p:nvSpPr>
          <p:cNvPr id="23" name="Text 20"/>
          <p:cNvSpPr/>
          <p:nvPr/>
        </p:nvSpPr>
        <p:spPr>
          <a:xfrm>
            <a:off x="8577072" y="4096512"/>
            <a:ext cx="2606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0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重なりケースでは、別の肉も pork と誤って認定されることが多い</a:t>
            </a:r>
            <a:endParaRPr lang="en-US" sz="970" dirty="0"/>
          </a:p>
        </p:txBody>
      </p:sp>
      <p:sp>
        <p:nvSpPr>
          <p:cNvPr id="24" name="Shape 21"/>
          <p:cNvSpPr/>
          <p:nvPr/>
        </p:nvSpPr>
        <p:spPr>
          <a:xfrm>
            <a:off x="6446520" y="4535424"/>
            <a:ext cx="4663440" cy="0"/>
          </a:xfrm>
          <a:prstGeom prst="line">
            <a:avLst/>
          </a:prstGeom>
          <a:noFill/>
          <a:ln w="8890">
            <a:solidFill>
              <a:srgbClr val="E4DAD2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473952" y="5184648"/>
            <a:ext cx="1234440" cy="292608"/>
          </a:xfrm>
          <a:prstGeom prst="rect">
            <a:avLst/>
          </a:prstGeom>
          <a:solidFill>
            <a:srgbClr val="8E2335"/>
          </a:solidFill>
          <a:ln w="12700">
            <a:solidFill>
              <a:srgbClr val="8E2335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565392" y="5244084"/>
            <a:ext cx="105156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Takeaway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7882128" y="5193792"/>
            <a:ext cx="3310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60" b="1" dirty="0">
                <a:solidFill>
                  <a:srgbClr val="1F1A17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背景差だけでなく、肉同士の重なりを含むデータ多様性が重要</a:t>
            </a:r>
            <a:endParaRPr lang="en-US" sz="126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1210"/>
          </a:solidFill>
          <a:ln w="12700">
            <a:solidFill>
              <a:srgbClr val="151210">
                <a:alpha val="0"/>
              </a:srgbClr>
            </a:solidFill>
            <a:prstDash val="solid"/>
          </a:ln>
        </p:spPr>
      </p:sp>
      <p:pic>
        <p:nvPicPr>
          <p:cNvPr id="3" name="Image 0" descr="/Users/abesouichirou/Documents/utokyo_lecture/programming1/detect_results/train/val_batch0_pred.jpg">    </p:cNvPr>
          <p:cNvPicPr>
            <a:picLocks noChangeAspect="1"/>
          </p:cNvPicPr>
          <p:nvPr/>
        </p:nvPicPr>
        <p:blipFill>
          <a:blip r:embed="rId1"/>
          <a:srcRect l="34000" r="-4400" t="0" b="0"/>
          <a:stretch/>
        </p:blipFill>
        <p:spPr>
          <a:xfrm>
            <a:off x="7360920" y="0"/>
            <a:ext cx="4828032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995160" y="0"/>
            <a:ext cx="365760" cy="6858000"/>
          </a:xfrm>
          <a:prstGeom prst="rect">
            <a:avLst/>
          </a:prstGeom>
          <a:solidFill>
            <a:srgbClr val="151210">
              <a:alpha val="65000"/>
            </a:srgbClr>
          </a:solidFill>
          <a:ln w="12700">
            <a:solidFill>
              <a:srgbClr val="151210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621792" y="58521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4章 結論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21792" y="1325880"/>
            <a:ext cx="54406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46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YOLOとRoboflowを用いて、肉画像から肉の種類を判定するモデルを構築し、認識性能と失敗要因を検証した。</a:t>
            </a:r>
            <a:endParaRPr lang="en-US" sz="2246" dirty="0"/>
          </a:p>
        </p:txBody>
      </p:sp>
      <p:sp>
        <p:nvSpPr>
          <p:cNvPr id="7" name="Text 4"/>
          <p:cNvSpPr/>
          <p:nvPr/>
        </p:nvSpPr>
        <p:spPr>
          <a:xfrm>
            <a:off x="658368" y="324612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BAE9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確認できたこと</a:t>
            </a:r>
            <a:endParaRPr lang="en-US" sz="920" dirty="0"/>
          </a:p>
        </p:txBody>
      </p:sp>
      <p:sp>
        <p:nvSpPr>
          <p:cNvPr id="8" name="Text 5"/>
          <p:cNvSpPr/>
          <p:nvPr/>
        </p:nvSpPr>
        <p:spPr>
          <a:xfrm>
            <a:off x="2057400" y="3227832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0C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一定条件では肉領域と種類を検出できた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3941064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D94E59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課題1</a:t>
            </a:r>
            <a:endParaRPr lang="en-US" sz="920" dirty="0"/>
          </a:p>
        </p:txBody>
      </p:sp>
      <p:sp>
        <p:nvSpPr>
          <p:cNvPr id="10" name="Text 7"/>
          <p:cNvSpPr/>
          <p:nvPr/>
        </p:nvSpPr>
        <p:spPr>
          <a:xfrm>
            <a:off x="2057400" y="3922776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0C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照明、部位、背景差が誤分類や検出漏れにつながった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58368" y="4636008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D79B3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課題2</a:t>
            </a:r>
            <a:endParaRPr lang="en-US" sz="920" dirty="0"/>
          </a:p>
        </p:txBody>
      </p:sp>
      <p:sp>
        <p:nvSpPr>
          <p:cNvPr id="12" name="Text 9"/>
          <p:cNvSpPr/>
          <p:nvPr/>
        </p:nvSpPr>
        <p:spPr>
          <a:xfrm>
            <a:off x="2057400" y="4617720"/>
            <a:ext cx="3886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9D0C8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肉同士が重なるケースの判別に向けて追加学習を進めている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58368" y="5897880"/>
            <a:ext cx="4983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8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今後は、背景が違っても、肉同士が重なっても安定して判定できるモデルを目指す。</a:t>
            </a:r>
            <a:endParaRPr lang="en-US" sz="1180" dirty="0"/>
          </a:p>
        </p:txBody>
      </p:sp>
      <p:sp>
        <p:nvSpPr>
          <p:cNvPr id="14" name="Text 11"/>
          <p:cNvSpPr/>
          <p:nvPr/>
        </p:nvSpPr>
        <p:spPr>
          <a:xfrm>
            <a:off x="11137392" y="641908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776C64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11128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8C817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The University of Tokyo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YOLOとRoboflowを用いた肉種判定モデルの開発</dc:title>
  <dc:subject>YOLO and Roboflow meat detection presentation</dc:subject>
  <dc:creator>programming1</dc:creator>
  <cp:lastModifiedBy>programming1</cp:lastModifiedBy>
  <cp:revision>1</cp:revision>
  <dcterms:created xsi:type="dcterms:W3CDTF">2026-06-01T04:12:57Z</dcterms:created>
  <dcterms:modified xsi:type="dcterms:W3CDTF">2026-06-01T04:12:57Z</dcterms:modified>
</cp:coreProperties>
</file>