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pic>
        <p:nvPicPr>
          <p:cNvPr id="3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133" r="133" t="0" b="0"/>
          <a:stretch/>
        </p:blipFill>
        <p:spPr>
          <a:xfrm>
            <a:off x="5349240" y="0"/>
            <a:ext cx="683971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5166360" cy="6858000"/>
          </a:xfrm>
          <a:prstGeom prst="rect">
            <a:avLst/>
          </a:prstGeom>
          <a:solidFill>
            <a:srgbClr val="151210">
              <a:alpha val="96000"/>
            </a:srgbClr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66360" y="0"/>
            <a:ext cx="182880" cy="6858000"/>
          </a:xfrm>
          <a:prstGeom prst="rect">
            <a:avLst/>
          </a:prstGeom>
          <a:solidFill>
            <a:srgbClr val="151210">
              <a:alpha val="58000"/>
            </a:srgbClr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669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MEAT DETECTION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1252728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97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 x Roboflow</a:t>
            </a:r>
            <a:endParaRPr lang="en-US" sz="3297" dirty="0"/>
          </a:p>
          <a:p>
            <a:pPr indent="0" marL="0">
              <a:buNone/>
            </a:pPr>
            <a:r>
              <a:rPr lang="en-US" sz="3297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肉種判定モデルの開発</a:t>
            </a:r>
            <a:endParaRPr lang="en-US" sz="3297" dirty="0"/>
          </a:p>
        </p:txBody>
      </p:sp>
      <p:sp>
        <p:nvSpPr>
          <p:cNvPr id="8" name="Text 5"/>
          <p:cNvSpPr/>
          <p:nvPr/>
        </p:nvSpPr>
        <p:spPr>
          <a:xfrm>
            <a:off x="603504" y="299923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画像中の肉領域を検出し、beef / chicken / lamb / pork を推定する</a:t>
            </a:r>
            <a:endParaRPr lang="en-US" sz="1360" dirty="0"/>
          </a:p>
        </p:txBody>
      </p:sp>
      <p:sp>
        <p:nvSpPr>
          <p:cNvPr id="9" name="Shape 6"/>
          <p:cNvSpPr/>
          <p:nvPr/>
        </p:nvSpPr>
        <p:spPr>
          <a:xfrm>
            <a:off x="603504" y="3913632"/>
            <a:ext cx="1143000" cy="365760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09644"/>
            <a:ext cx="9784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YOLO11s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1901952" y="3913632"/>
            <a:ext cx="1261872" cy="365760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84248" y="4009644"/>
            <a:ext cx="1097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3319272" y="3913632"/>
            <a:ext cx="1755648" cy="365760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01568" y="4009644"/>
            <a:ext cx="1591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Object Detection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603504" y="61447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BFB3A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Programming 1 Project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pic>
        <p:nvPicPr>
          <p:cNvPr id="3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12000" r="26933" t="0" b="0"/>
          <a:stretch/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84848" y="0"/>
            <a:ext cx="1143000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発表構成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85216" y="112471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研究目的を正当化し、手法、結果、今後の課題へつなげる</a:t>
            </a:r>
            <a:endParaRPr lang="en-US" sz="1120" dirty="0"/>
          </a:p>
        </p:txBody>
      </p:sp>
      <p:sp>
        <p:nvSpPr>
          <p:cNvPr id="7" name="Text 4"/>
          <p:cNvSpPr/>
          <p:nvPr/>
        </p:nvSpPr>
        <p:spPr>
          <a:xfrm>
            <a:off x="713232" y="190195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</a:t>
            </a:r>
            <a:endParaRPr lang="en-US" sz="920" dirty="0"/>
          </a:p>
        </p:txBody>
      </p:sp>
      <p:sp>
        <p:nvSpPr>
          <p:cNvPr id="8" name="Shape 5"/>
          <p:cNvSpPr/>
          <p:nvPr/>
        </p:nvSpPr>
        <p:spPr>
          <a:xfrm>
            <a:off x="1325880" y="1993392"/>
            <a:ext cx="548640" cy="0"/>
          </a:xfrm>
          <a:prstGeom prst="line">
            <a:avLst/>
          </a:prstGeom>
          <a:noFill/>
          <a:ln w="20320">
            <a:solidFill>
              <a:srgbClr val="E4DA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029968" y="1828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はじめに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685032" y="18562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背景、既往研究、課題、目的</a:t>
            </a:r>
            <a:endParaRPr lang="en-US" sz="1070" dirty="0"/>
          </a:p>
        </p:txBody>
      </p:sp>
      <p:sp>
        <p:nvSpPr>
          <p:cNvPr id="11" name="Shape 8"/>
          <p:cNvSpPr/>
          <p:nvPr/>
        </p:nvSpPr>
        <p:spPr>
          <a:xfrm>
            <a:off x="685800" y="2331720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3232" y="2798064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1325880" y="2889504"/>
            <a:ext cx="548640" cy="0"/>
          </a:xfrm>
          <a:prstGeom prst="line">
            <a:avLst/>
          </a:prstGeom>
          <a:noFill/>
          <a:ln w="20320">
            <a:solidFill>
              <a:srgbClr val="1BAE9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029968" y="2724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手法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685032" y="275234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全体の流れ、Roboflow、YOLO、担当分担</a:t>
            </a:r>
            <a:endParaRPr lang="en-US" sz="1070" dirty="0"/>
          </a:p>
        </p:txBody>
      </p:sp>
      <p:sp>
        <p:nvSpPr>
          <p:cNvPr id="16" name="Shape 13"/>
          <p:cNvSpPr/>
          <p:nvPr/>
        </p:nvSpPr>
        <p:spPr>
          <a:xfrm>
            <a:off x="685800" y="3227832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3694176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1325880" y="3785616"/>
            <a:ext cx="548640" cy="0"/>
          </a:xfrm>
          <a:prstGeom prst="line">
            <a:avLst/>
          </a:prstGeom>
          <a:noFill/>
          <a:ln w="20320">
            <a:solidFill>
              <a:srgbClr val="E4DAD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029968" y="36210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結果と考察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685032" y="364845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精度指標、推論例、失敗要因</a:t>
            </a:r>
            <a:endParaRPr lang="en-US" sz="1070" dirty="0"/>
          </a:p>
        </p:txBody>
      </p:sp>
      <p:sp>
        <p:nvSpPr>
          <p:cNvPr id="21" name="Shape 18"/>
          <p:cNvSpPr/>
          <p:nvPr/>
        </p:nvSpPr>
        <p:spPr>
          <a:xfrm>
            <a:off x="685800" y="4123944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" y="4590288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1325880" y="4681728"/>
            <a:ext cx="548640" cy="0"/>
          </a:xfrm>
          <a:prstGeom prst="line">
            <a:avLst/>
          </a:prstGeom>
          <a:noFill/>
          <a:ln w="20320">
            <a:solidFill>
              <a:srgbClr val="E4DAD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029968" y="45171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結論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3685032" y="45445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目的の過去形と今後の課題</a:t>
            </a:r>
            <a:endParaRPr lang="en-US" sz="1070" dirty="0"/>
          </a:p>
        </p:txBody>
      </p:sp>
      <p:sp>
        <p:nvSpPr>
          <p:cNvPr id="26" name="Shape 23"/>
          <p:cNvSpPr/>
          <p:nvPr/>
        </p:nvSpPr>
        <p:spPr>
          <a:xfrm>
            <a:off x="685800" y="5020056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開発の背景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138988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1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肉の種類は目視で判断されるが、画像上の見え方は安定しない</a:t>
            </a:r>
            <a:endParaRPr lang="en-US" sz="1721" dirty="0"/>
          </a:p>
        </p:txBody>
      </p:sp>
      <p:sp>
        <p:nvSpPr>
          <p:cNvPr id="8" name="Text 6"/>
          <p:cNvSpPr/>
          <p:nvPr/>
        </p:nvSpPr>
        <p:spPr>
          <a:xfrm>
            <a:off x="676656" y="2212848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食品管理、食材分類、料理記録では、画像から肉種を自動判定できると有用である。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713232" y="3822192"/>
            <a:ext cx="1554480" cy="73152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0416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色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3232" y="43708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照明で赤みや白さが変わる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97480" y="3822192"/>
            <a:ext cx="1554480" cy="73152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40416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脂身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697480" y="43708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部位や切り方で分布が変わる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81728" y="3822192"/>
            <a:ext cx="1554480" cy="73152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40416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形状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681728" y="43708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一部だけ写ると特徴が減る</a:t>
            </a:r>
            <a:endParaRPr lang="en-US" sz="1000" dirty="0"/>
          </a:p>
        </p:txBody>
      </p:sp>
      <p:pic>
        <p:nvPicPr>
          <p:cNvPr id="18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20000" r="10761" t="8000" b="22000"/>
          <a:stretch/>
        </p:blipFill>
        <p:spPr>
          <a:xfrm>
            <a:off x="7315200" y="1298448"/>
            <a:ext cx="4160520" cy="420624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315200" y="5742432"/>
            <a:ext cx="1143000" cy="29260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06640" y="5801868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Problem</a:t>
            </a:r>
            <a:endParaRPr lang="en-US" sz="760" dirty="0"/>
          </a:p>
        </p:txBody>
      </p:sp>
      <p:sp>
        <p:nvSpPr>
          <p:cNvPr id="21" name="Text 18"/>
          <p:cNvSpPr/>
          <p:nvPr/>
        </p:nvSpPr>
        <p:spPr>
          <a:xfrm>
            <a:off x="8641080" y="576072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人の判断が揺れる条件は、モデルの判断も揺らす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既往研究・関連技術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34416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食品画像認識では、画像分類と物体検出がよく使われる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49808" y="1993392"/>
            <a:ext cx="2880360" cy="2084832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1993392"/>
            <a:ext cx="2880360" cy="128016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3591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CNN分類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69264" y="27706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画像全体を1つのクラスに分類する。食材写真の分類で広く利用される。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4425696" y="1993392"/>
            <a:ext cx="2880360" cy="2084832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25696" y="1993392"/>
            <a:ext cx="2880360" cy="128016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23591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YOLO検出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45152" y="27706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物体の位置と種類を同時に推定する。複数対象や背景を含む画像に向く。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8101584" y="1993392"/>
            <a:ext cx="2880360" cy="2084832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1584" y="1993392"/>
            <a:ext cx="2880360" cy="128016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23591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321040" y="27706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アノテーション、分割、前処理、拡張、YOLO形式出力を一元管理する。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1481328" y="4873752"/>
            <a:ext cx="886968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53035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本研究の位置づけ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2606040" y="532180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既存モデルを使い、肉種に合わせたデータセット設計と失敗分析に焦点を置く</a:t>
            </a:r>
            <a:endParaRPr lang="en-US" sz="1160" dirty="0"/>
          </a:p>
        </p:txBody>
      </p:sp>
      <p:sp>
        <p:nvSpPr>
          <p:cNvPr id="23" name="Shape 21"/>
          <p:cNvSpPr/>
          <p:nvPr/>
        </p:nvSpPr>
        <p:spPr>
          <a:xfrm>
            <a:off x="9372600" y="5230368"/>
            <a:ext cx="685800" cy="365760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5326380"/>
            <a:ext cx="521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検出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10195560" y="5230368"/>
            <a:ext cx="685800" cy="365760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77856" y="5326380"/>
            <a:ext cx="521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分類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1018520" y="5230368"/>
            <a:ext cx="685800" cy="365760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100816" y="5326380"/>
            <a:ext cx="521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肉画像認識の課題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endParaRPr lang="en-US" sz="850" dirty="0"/>
          </a:p>
        </p:txBody>
      </p:sp>
      <p:pic>
        <p:nvPicPr>
          <p:cNvPr id="7" name="Image 0" descr="/Users/abesouichirou/Documents/utokyo_lecture/programming1/detect_results/predict/istockphoto-1300699678-612x612_jpg.rf.40f23d801c52831b734920aeb4ea53c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325880"/>
            <a:ext cx="2880360" cy="2880360"/>
          </a:xfrm>
          <a:prstGeom prst="rect">
            <a:avLst/>
          </a:prstGeom>
        </p:spPr>
      </p:pic>
      <p:pic>
        <p:nvPicPr>
          <p:cNvPr id="8" name="Image 1" descr="/Users/abesouichirou/Documents/utokyo_lecture/programming1/detect_results/predict/category-pork-1024x768_png.rf.572d8e91e0194c0c525ee4144dfe7ca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49040" y="1325880"/>
            <a:ext cx="2880360" cy="28803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76656" y="4462272"/>
            <a:ext cx="5943600" cy="6400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13232" y="47731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似ている見た目が、誤分類の原因になる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7178040" y="1389888"/>
            <a:ext cx="4389120" cy="3154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r>
              <a:rPr lang="en-US" sz="152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色や脂身が似るクラスがある</a:t>
            </a:r>
            <a:endParaRPr lang="en-US" sz="1520" dirty="0"/>
          </a:p>
          <a:p>
            <a:r>
              <a:rPr lang="en-US" sz="152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同じクラスでも部位や切り方で変化する</a:t>
            </a:r>
            <a:endParaRPr lang="en-US" sz="1520" dirty="0"/>
          </a:p>
          <a:p>
            <a:r>
              <a:rPr lang="en-US" sz="152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背景、トレー、包装を手がかりにするリスクがある</a:t>
            </a:r>
            <a:endParaRPr lang="en-US" sz="1520" dirty="0"/>
          </a:p>
          <a:p>
            <a:r>
              <a:rPr lang="en-US" sz="152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画像枚数が少ないと撮影条件に過学習しやすい</a:t>
            </a:r>
            <a:endParaRPr lang="en-US" sz="1520" dirty="0"/>
          </a:p>
        </p:txBody>
      </p:sp>
      <p:sp>
        <p:nvSpPr>
          <p:cNvPr id="12" name="Shape 8"/>
          <p:cNvSpPr/>
          <p:nvPr/>
        </p:nvSpPr>
        <p:spPr>
          <a:xfrm>
            <a:off x="7178040" y="4782312"/>
            <a:ext cx="1371600" cy="292608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269480" y="4841748"/>
            <a:ext cx="1188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Key issue</a:t>
            </a:r>
            <a:endParaRPr lang="en-US" sz="760" dirty="0"/>
          </a:p>
        </p:txBody>
      </p:sp>
      <p:sp>
        <p:nvSpPr>
          <p:cNvPr id="14" name="Text 10"/>
          <p:cNvSpPr/>
          <p:nvPr/>
        </p:nvSpPr>
        <p:spPr>
          <a:xfrm>
            <a:off x="8759952" y="4791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モデル性能だけでなく、データの作り方が精度を左右する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研究目的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508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97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YOLOとRoboflowを用いて、肉画像から肉の位置と種類を判定するモデルを構築し、認識性能と失敗要因を分析する。</a:t>
            </a:r>
            <a:endParaRPr lang="en-US" sz="2397" dirty="0"/>
          </a:p>
        </p:txBody>
      </p:sp>
      <p:sp>
        <p:nvSpPr>
          <p:cNvPr id="8" name="Shape 6"/>
          <p:cNvSpPr/>
          <p:nvPr/>
        </p:nvSpPr>
        <p:spPr>
          <a:xfrm>
            <a:off x="475488" y="3401568"/>
            <a:ext cx="3383280" cy="20116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370332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" y="4224528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肉画像データセットを作成し、YOLO形式で扱えるようにする</a:t>
            </a:r>
            <a:endParaRPr lang="en-US" sz="1360" dirty="0"/>
          </a:p>
        </p:txBody>
      </p:sp>
      <p:sp>
        <p:nvSpPr>
          <p:cNvPr id="11" name="Shape 9"/>
          <p:cNvSpPr/>
          <p:nvPr/>
        </p:nvSpPr>
        <p:spPr>
          <a:xfrm>
            <a:off x="4453128" y="3401568"/>
            <a:ext cx="3383280" cy="20116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370332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Measure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64024" y="4224528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Precision、Recall、mAPで検出性能を確認する</a:t>
            </a:r>
            <a:endParaRPr lang="en-US" sz="1360" dirty="0"/>
          </a:p>
        </p:txBody>
      </p:sp>
      <p:sp>
        <p:nvSpPr>
          <p:cNvPr id="14" name="Shape 12"/>
          <p:cNvSpPr/>
          <p:nvPr/>
        </p:nvSpPr>
        <p:spPr>
          <a:xfrm>
            <a:off x="8430768" y="3401568"/>
            <a:ext cx="3383280" cy="20116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41664" y="370332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5C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Explain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741664" y="4224528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成功例と失敗例から、肉画像認識の課題を考察する</a:t>
            </a:r>
            <a:endParaRPr lang="en-US" sz="13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全体の流れ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9377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1417320"/>
            <a:ext cx="566928" cy="129844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24358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画像収集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4358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肉画像を集める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3054096" y="206654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1985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19856" y="1417320"/>
            <a:ext cx="566928" cy="1298448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6966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アノテーション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肉領域をBBox化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980176" y="206654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4593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1417320"/>
            <a:ext cx="566928" cy="1298448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967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09574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前処理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9574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サイズ統一と分割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906256" y="206654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7201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72016" y="1417320"/>
            <a:ext cx="566928" cy="1298448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4575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2182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データ拡張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02182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見え方の揺れを補う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493776" y="365760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3657600"/>
            <a:ext cx="566928" cy="129844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" y="41422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43584" y="3867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YOLO学習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243584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位置とクラスを学習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3054096" y="430682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19856" y="365760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19856" y="3657600"/>
            <a:ext cx="566928" cy="1298448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93592" y="41422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169664" y="3867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推論・評価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169664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指標と画像で確認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5980176" y="430682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345936" y="365760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45936" y="3657600"/>
            <a:ext cx="566928" cy="1298448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9672" y="41422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095744" y="3867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095744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失敗要因を整理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731520" y="598932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Roboflowで作ったデータセットをYOLOに渡し、検出結果と誤り方を確認する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データセット作成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3167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1. データ分布</a:t>
            </a:r>
            <a:endParaRPr lang="en-US" sz="1450" dirty="0"/>
          </a:p>
        </p:txBody>
      </p:sp>
      <p:pic>
        <p:nvPicPr>
          <p:cNvPr id="8" name="Image 0" descr="/Users/abesouichirou/Documents/utokyo_lecture/programming1/detect_results/train/lab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19072"/>
            <a:ext cx="3063240" cy="3063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5010912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クラス数とBBoxの位置・大きさを確認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4160520" y="13167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2. 対象クラス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160520" y="1810512"/>
            <a:ext cx="1371600" cy="365760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42816" y="1906524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beef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5824728" y="1810512"/>
            <a:ext cx="1371600" cy="365760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07024" y="1906524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chicken</a:t>
            </a:r>
            <a:endParaRPr lang="en-US" sz="820" dirty="0"/>
          </a:p>
        </p:txBody>
      </p:sp>
      <p:sp>
        <p:nvSpPr>
          <p:cNvPr id="15" name="Shape 12"/>
          <p:cNvSpPr/>
          <p:nvPr/>
        </p:nvSpPr>
        <p:spPr>
          <a:xfrm>
            <a:off x="4160520" y="2468880"/>
            <a:ext cx="1371600" cy="365760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42816" y="2564892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5824728" y="2468880"/>
            <a:ext cx="1371600" cy="365760"/>
          </a:xfrm>
          <a:prstGeom prst="rect">
            <a:avLst/>
          </a:prstGeom>
          <a:solidFill>
            <a:srgbClr val="D94E59"/>
          </a:solidFill>
          <a:ln w="12700">
            <a:solidFill>
              <a:srgbClr val="D94E59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07024" y="2564892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pork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4224528" y="324612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画像中の肉だけをバウンディングボックスで指定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画像全体ではなく、位置と種類を同時に学習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train / validation / test に分割して評価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Roboflowでデータセットのバージョンを管理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160520" y="4782312"/>
            <a:ext cx="3154680" cy="0"/>
          </a:xfrm>
          <a:prstGeom prst="line">
            <a:avLst/>
          </a:prstGeom>
          <a:noFill/>
          <a:ln w="10160">
            <a:solidFill>
              <a:srgbClr val="E4DAD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87952" y="5010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位置と種類を同時に学習できる形へ変換する</a:t>
            </a:r>
            <a:endParaRPr lang="en-US" sz="1060" dirty="0"/>
          </a:p>
        </p:txBody>
      </p:sp>
      <p:sp>
        <p:nvSpPr>
          <p:cNvPr id="22" name="Text 19"/>
          <p:cNvSpPr/>
          <p:nvPr/>
        </p:nvSpPr>
        <p:spPr>
          <a:xfrm>
            <a:off x="8065008" y="13167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 Annotation</a:t>
            </a:r>
            <a:endParaRPr lang="en-US" sz="1450" dirty="0"/>
          </a:p>
        </p:txBody>
      </p:sp>
      <p:pic>
        <p:nvPicPr>
          <p:cNvPr id="23" name="Image 1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2"/>
          <a:srcRect l="32000" r="16096" t="20000" b="34000"/>
          <a:stretch/>
        </p:blipFill>
        <p:spPr>
          <a:xfrm>
            <a:off x="8065008" y="1719072"/>
            <a:ext cx="3456432" cy="306324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8065008" y="5001768"/>
            <a:ext cx="1280160" cy="347472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339328" y="5093208"/>
            <a:ext cx="731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BBox</a:t>
            </a:r>
            <a:endParaRPr lang="en-US" sz="860" dirty="0"/>
          </a:p>
        </p:txBody>
      </p:sp>
      <p:sp>
        <p:nvSpPr>
          <p:cNvPr id="26" name="Text 22"/>
          <p:cNvSpPr/>
          <p:nvPr/>
        </p:nvSpPr>
        <p:spPr>
          <a:xfrm>
            <a:off x="9528048" y="50474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YOLOの教師信号として使う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Roboflowでの工夫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353312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肉画像は撮影条件に左右されるため、データ側で揺れを持たせる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04672" y="2148840"/>
            <a:ext cx="146304" cy="146304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10312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05C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Resize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14600" y="209397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画像サイズを640pxに統一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804672" y="2532888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898648"/>
            <a:ext cx="146304" cy="146304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285292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Split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14600" y="284378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学習、検証、テストに分割</a:t>
            </a:r>
            <a:endParaRPr lang="en-US" sz="1340" dirty="0"/>
          </a:p>
        </p:txBody>
      </p:sp>
      <p:sp>
        <p:nvSpPr>
          <p:cNvPr id="15" name="Shape 13"/>
          <p:cNvSpPr/>
          <p:nvPr/>
        </p:nvSpPr>
        <p:spPr>
          <a:xfrm>
            <a:off x="804672" y="3282696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648456"/>
            <a:ext cx="146304" cy="146304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360273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Augment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4600" y="3593592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反転、拡大縮小、色変化など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804672" y="4032504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398264"/>
            <a:ext cx="146304" cy="146304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352544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9B3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Export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14600" y="43434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YOLO形式で出力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804672" y="4782312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20840" y="1627632"/>
            <a:ext cx="4498848" cy="36118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20116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オリジナリティ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086600" y="2450592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95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肉の見え方が変わる前提で、データセット設計と失敗例分析を重視した</a:t>
            </a:r>
            <a:endParaRPr lang="en-US" sz="1795" dirty="0"/>
          </a:p>
        </p:txBody>
      </p:sp>
      <p:sp>
        <p:nvSpPr>
          <p:cNvPr id="27" name="Text 25"/>
          <p:cNvSpPr/>
          <p:nvPr/>
        </p:nvSpPr>
        <p:spPr>
          <a:xfrm>
            <a:off x="7114032" y="40050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モデルを新規提案するのではなく、対象に合わせたデータ作成を検証対象にした。</a:t>
            </a:r>
            <a:endParaRPr lang="en-US" sz="10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YOLOによる学習と担当分担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94944" y="1353312"/>
            <a:ext cx="3794760" cy="431596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556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学習設定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7552" y="2249424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model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1920240" y="223113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yolo11s.pt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987552" y="2688336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epochs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1920240" y="267004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987552" y="3127248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imgsz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1920240" y="31089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640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987552" y="356616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batch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1920240" y="35478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987552" y="4005072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task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1920240" y="3986784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detect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475488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</a:t>
            </a:r>
            <a:endParaRPr lang="en-US" sz="1120" dirty="0"/>
          </a:p>
        </p:txBody>
      </p:sp>
      <p:pic>
        <p:nvPicPr>
          <p:cNvPr id="20" name="Image 0" descr="/Users/abesouichirou/Documents/utokyo_lecture/programming1/detect_results/predict/IMG_2571_jpg.rf.ede6c052f742170fc837e6c3e2b0ed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2157984"/>
            <a:ext cx="1572768" cy="15727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473952" y="2944368"/>
            <a:ext cx="475488" cy="0"/>
          </a:xfrm>
          <a:prstGeom prst="line">
            <a:avLst/>
          </a:prstGeom>
          <a:noFill/>
          <a:ln w="17780">
            <a:solidFill>
              <a:srgbClr val="1BAE9D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7040880" y="28163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726680" y="2944368"/>
            <a:ext cx="502920" cy="0"/>
          </a:xfrm>
          <a:prstGeom prst="line">
            <a:avLst/>
          </a:prstGeom>
          <a:noFill/>
          <a:ln w="17780">
            <a:solidFill>
              <a:srgbClr val="1BAE9D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8302752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出力</a:t>
            </a:r>
            <a:endParaRPr lang="en-US" sz="1120" dirty="0"/>
          </a:p>
        </p:txBody>
      </p:sp>
      <p:sp>
        <p:nvSpPr>
          <p:cNvPr id="25" name="Shape 22"/>
          <p:cNvSpPr/>
          <p:nvPr/>
        </p:nvSpPr>
        <p:spPr>
          <a:xfrm>
            <a:off x="8302752" y="2176272"/>
            <a:ext cx="2788920" cy="148132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13648" y="245973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3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肉の位置</a:t>
            </a:r>
            <a:endParaRPr lang="en-US" sz="1430" dirty="0"/>
          </a:p>
          <a:p>
            <a:pPr indent="0" marL="0">
              <a:buNone/>
            </a:pPr>
            <a:r>
              <a:rPr lang="en-US" sz="143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種類ラベル</a:t>
            </a:r>
            <a:endParaRPr lang="en-US" sz="1430" dirty="0"/>
          </a:p>
          <a:p>
            <a:pPr indent="0" marL="0">
              <a:buNone/>
            </a:pPr>
            <a:r>
              <a:rPr lang="en-US" sz="143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confidence</a:t>
            </a:r>
            <a:endParaRPr lang="en-US" sz="1430" dirty="0"/>
          </a:p>
        </p:txBody>
      </p:sp>
      <p:sp>
        <p:nvSpPr>
          <p:cNvPr id="27" name="Shape 24"/>
          <p:cNvSpPr/>
          <p:nvPr/>
        </p:nvSpPr>
        <p:spPr>
          <a:xfrm>
            <a:off x="4709160" y="4297680"/>
            <a:ext cx="6263640" cy="7315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6592" y="46451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担当分担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263640" y="4663440"/>
            <a:ext cx="4526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データ収集 / アノテーション / 前処理 / 学習 / 評価 / 発表資料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3章 結果と考察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学習結果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最終epochの評価指標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49808" y="190195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Precision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2084832" y="1920240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84832" y="1920240"/>
            <a:ext cx="1989772" cy="164592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70832" y="188366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88.8%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2084832" y="2578608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84832" y="2578608"/>
            <a:ext cx="1765587" cy="164592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0832" y="2542032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78.8%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749808" y="321868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mAP50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2084832" y="3236976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84832" y="3236976"/>
            <a:ext cx="1941561" cy="164592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0832" y="320040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86.7%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9808" y="387705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mAP50-95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2084832" y="3895344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84832" y="3895344"/>
            <a:ext cx="1422264" cy="164592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85876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63.5%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749808" y="4864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一定条件では検出できたが、mAP50-95は63.5%で、厳密な位置合わせには改善余地がある。</a:t>
            </a:r>
            <a:endParaRPr lang="en-US" sz="1240" dirty="0"/>
          </a:p>
        </p:txBody>
      </p:sp>
      <p:pic>
        <p:nvPicPr>
          <p:cNvPr id="25" name="Image 0" descr="/Users/abesouichirou/Documents/utokyo_lecture/programming1/detect_results/train/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1981962"/>
            <a:ext cx="5715000" cy="28575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650992" y="5687568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出典: detect_results/train/results.csv, results.png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3章 結果と考察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推論例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2984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confidenceが付いた検出枠として出力される</a:t>
            </a:r>
            <a:endParaRPr lang="en-US" sz="2100" dirty="0"/>
          </a:p>
        </p:txBody>
      </p:sp>
      <p:pic>
        <p:nvPicPr>
          <p:cNvPr id="8" name="Image 0" descr="/Users/abesouichirou/Documents/utokyo_lecture/programming1/detect_results/predict/IMG_2571_jpg.rf.ede6c052f742170fc837e6c3e2b0ed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792224"/>
            <a:ext cx="2487168" cy="24871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76656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BAE9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656" y="1792224"/>
            <a:ext cx="2487168" cy="310896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 0.81</a:t>
            </a:r>
            <a:endParaRPr lang="en-US" sz="830" dirty="0"/>
          </a:p>
        </p:txBody>
      </p:sp>
      <p:pic>
        <p:nvPicPr>
          <p:cNvPr id="12" name="Image 1" descr="/Users/abesouichirou/Documents/utokyo_lecture/programming1/detect_results/predict/category-pork-1024x768_png.rf.572d8e91e0194c0c525ee4144dfe7ca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10128" y="1792224"/>
            <a:ext cx="2487168" cy="2487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10128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D94E5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310128" y="1792224"/>
            <a:ext cx="2487168" cy="310896"/>
          </a:xfrm>
          <a:prstGeom prst="rect">
            <a:avLst/>
          </a:prstGeom>
          <a:solidFill>
            <a:srgbClr val="D94E59"/>
          </a:solidFill>
          <a:ln w="12700">
            <a:solidFill>
              <a:srgbClr val="D94E59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01568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pork 0.58</a:t>
            </a:r>
            <a:endParaRPr lang="en-US" sz="830" dirty="0"/>
          </a:p>
        </p:txBody>
      </p:sp>
      <p:pic>
        <p:nvPicPr>
          <p:cNvPr id="16" name="Image 2" descr="/Users/abesouichirou/Documents/utokyo_lecture/programming1/detect_results/predict/istockphoto-1300699678-612x612_jpg.rf.40f23d801c52831b734920aeb4ea53c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0" y="1792224"/>
            <a:ext cx="2487168" cy="248716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943600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305C8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943600" y="1792224"/>
            <a:ext cx="2487168" cy="310896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035040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 0.55</a:t>
            </a:r>
            <a:endParaRPr lang="en-US" sz="830" dirty="0"/>
          </a:p>
        </p:txBody>
      </p:sp>
      <p:pic>
        <p:nvPicPr>
          <p:cNvPr id="20" name="Image 3" descr="/Users/abesouichirou/Documents/utokyo_lecture/programming1/detect_results/predict/pngtree-red-meat-on-a-white-cut-out-picture-image_13276259_png.rf.b5d2f746cfb72290f0109194277ae8b2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577072" y="1792224"/>
            <a:ext cx="2487168" cy="248716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577072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D79B3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577072" y="1792224"/>
            <a:ext cx="2487168" cy="310896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668512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例: 判断が難しい画像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932688" y="4736592"/>
            <a:ext cx="4681728" cy="786384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1161288" y="4919472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成功しやすい条件</a:t>
            </a:r>
            <a:endParaRPr lang="en-US" sz="940" dirty="0"/>
          </a:p>
        </p:txBody>
      </p:sp>
      <p:sp>
        <p:nvSpPr>
          <p:cNvPr id="26" name="Text 20"/>
          <p:cNvSpPr/>
          <p:nvPr/>
        </p:nvSpPr>
        <p:spPr>
          <a:xfrm>
            <a:off x="2651760" y="49011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肉が大きく、背景が単純で、脂身や色の特徴が見える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6345936" y="4736592"/>
            <a:ext cx="4681728" cy="786384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574536" y="4919472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難しい条件</a:t>
            </a:r>
            <a:endParaRPr lang="en-US" sz="940" dirty="0"/>
          </a:p>
        </p:txBody>
      </p:sp>
      <p:sp>
        <p:nvSpPr>
          <p:cNvPr id="29" name="Text 23"/>
          <p:cNvSpPr/>
          <p:nvPr/>
        </p:nvSpPr>
        <p:spPr>
          <a:xfrm>
            <a:off x="8065008" y="49011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透かし、背景、暗さ、肉同士の類似でconfidenceが下がる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3章 結果と考察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結果の考察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endParaRPr lang="en-US" sz="850" dirty="0"/>
          </a:p>
        </p:txBody>
      </p:sp>
      <p:pic>
        <p:nvPicPr>
          <p:cNvPr id="7" name="Image 0" descr="/Users/abesouichirou/Documents/utokyo_lecture/programming1/detect_results/train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564767"/>
            <a:ext cx="5349240" cy="40119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3990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混同行列から見えること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6446520" y="1965960"/>
            <a:ext cx="128016" cy="128016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12280" y="192024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判定できた点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8577072" y="192938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lambなど特徴が強い画像では正解数が多い</a:t>
            </a:r>
            <a:endParaRPr lang="en-US" sz="1030" dirty="0"/>
          </a:p>
        </p:txBody>
      </p:sp>
      <p:sp>
        <p:nvSpPr>
          <p:cNvPr id="12" name="Shape 9"/>
          <p:cNvSpPr/>
          <p:nvPr/>
        </p:nvSpPr>
        <p:spPr>
          <a:xfrm>
            <a:off x="6446520" y="2478024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46520" y="2926080"/>
            <a:ext cx="128016" cy="128016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12280" y="288036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誤りやすい点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8577072" y="288950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background扱い、pork周辺の混同、検出漏れが発生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6446520" y="3438144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46520" y="3886200"/>
            <a:ext cx="128016" cy="128016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384048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新たな発見</a:t>
            </a:r>
            <a:endParaRPr lang="en-US" sz="1040" dirty="0"/>
          </a:p>
        </p:txBody>
      </p:sp>
      <p:sp>
        <p:nvSpPr>
          <p:cNvPr id="19" name="Text 16"/>
          <p:cNvSpPr/>
          <p:nvPr/>
        </p:nvSpPr>
        <p:spPr>
          <a:xfrm>
            <a:off x="8577072" y="38496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肉そのものだけでなく、背景や撮影条件が結果に影響する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6446520" y="4398264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3952" y="5184648"/>
            <a:ext cx="1234440" cy="29260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65392" y="5244084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Takeaway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7882128" y="519379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実用化には、モデル改善より先にデータ多様性の確保が重要</a:t>
            </a:r>
            <a:endParaRPr lang="en-US" sz="12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pic>
        <p:nvPicPr>
          <p:cNvPr id="3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34000" r="-4400" t="0" b="0"/>
          <a:stretch/>
        </p:blipFill>
        <p:spPr>
          <a:xfrm>
            <a:off x="7360920" y="0"/>
            <a:ext cx="482803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95160" y="0"/>
            <a:ext cx="365760" cy="6858000"/>
          </a:xfrm>
          <a:prstGeom prst="rect">
            <a:avLst/>
          </a:prstGeom>
          <a:solidFill>
            <a:srgbClr val="151210">
              <a:alpha val="65000"/>
            </a:srgbClr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" y="585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4章 結論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21792" y="1325880"/>
            <a:ext cx="5440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4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YOLOとRoboflowを用いて、肉画像から肉の種類を判定するモデルを構築し、認識性能と失敗要因を検証した。</a:t>
            </a:r>
            <a:endParaRPr lang="en-US" sz="2246" dirty="0"/>
          </a:p>
        </p:txBody>
      </p:sp>
      <p:sp>
        <p:nvSpPr>
          <p:cNvPr id="7" name="Text 4"/>
          <p:cNvSpPr/>
          <p:nvPr/>
        </p:nvSpPr>
        <p:spPr>
          <a:xfrm>
            <a:off x="658368" y="324612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確認できたこと</a:t>
            </a:r>
            <a:endParaRPr lang="en-US" sz="920" dirty="0"/>
          </a:p>
        </p:txBody>
      </p:sp>
      <p:sp>
        <p:nvSpPr>
          <p:cNvPr id="8" name="Text 5"/>
          <p:cNvSpPr/>
          <p:nvPr/>
        </p:nvSpPr>
        <p:spPr>
          <a:xfrm>
            <a:off x="2057400" y="3227832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一定条件では肉領域と種類を検出できた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3941064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94E5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残った課題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2057400" y="3922776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照明、部位、背景が誤分類や検出漏れにつながった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4636008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79B3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今後</a:t>
            </a:r>
            <a:endParaRPr lang="en-US" sz="920" dirty="0"/>
          </a:p>
        </p:txBody>
      </p:sp>
      <p:sp>
        <p:nvSpPr>
          <p:cNvPr id="12" name="Text 9"/>
          <p:cNvSpPr/>
          <p:nvPr/>
        </p:nvSpPr>
        <p:spPr>
          <a:xfrm>
            <a:off x="2057400" y="4617720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多様な画像追加、背景条件の比較、他モデルとの比較を行う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8368" y="5897880"/>
            <a:ext cx="498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今後は、実際の利用環境でも安定して判定できるモデルを目指す。</a:t>
            </a:r>
            <a:endParaRPr lang="en-US" sz="1180" dirty="0"/>
          </a:p>
        </p:txBody>
      </p:sp>
      <p:sp>
        <p:nvSpPr>
          <p:cNvPr id="14" name="Text 11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The University of Tokyo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YOLOとRoboflowを用いた肉種判定モデルの開発</dc:title>
  <dc:subject>YOLO and Roboflow meat detection presentation</dc:subject>
  <dc:creator>programming1</dc:creator>
  <cp:lastModifiedBy>programming1</cp:lastModifiedBy>
  <cp:revision>1</cp:revision>
  <dcterms:created xsi:type="dcterms:W3CDTF">2026-05-13T04:52:54Z</dcterms:created>
  <dcterms:modified xsi:type="dcterms:W3CDTF">2026-05-13T04:52:54Z</dcterms:modified>
</cp:coreProperties>
</file>