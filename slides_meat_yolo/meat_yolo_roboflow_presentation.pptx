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>
                <a:alpha val="0"/>
              </a:srgbClr>
            </a:solidFill>
            <a:prstDash val="solid"/>
          </a:ln>
        </p:spPr>
      </p:sp>
      <p:pic>
        <p:nvPicPr>
          <p:cNvPr id="3" name="Image 0" descr="/Users/abesouichirou/Documents/utokyo_lecture/programming1/detect_results/train/val_batch0_pred.jpg">    </p:cNvPr>
          <p:cNvPicPr>
            <a:picLocks noChangeAspect="1"/>
          </p:cNvPicPr>
          <p:nvPr/>
        </p:nvPicPr>
        <p:blipFill>
          <a:blip r:embed="rId1"/>
          <a:srcRect l="0" r="0" t="1799" b="1799"/>
          <a:stretch/>
        </p:blipFill>
        <p:spPr>
          <a:xfrm>
            <a:off x="5074920" y="0"/>
            <a:ext cx="711403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solidFill>
            <a:srgbClr val="151210">
              <a:alpha val="96000"/>
            </a:srgbClr>
          </a:solidFill>
          <a:ln w="12700">
            <a:solidFill>
              <a:srgbClr val="15121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892040" y="0"/>
            <a:ext cx="182880" cy="6858000"/>
          </a:xfrm>
          <a:prstGeom prst="rect">
            <a:avLst/>
          </a:prstGeom>
          <a:solidFill>
            <a:srgbClr val="151210">
              <a:alpha val="58000"/>
            </a:srgbClr>
          </a:solidFill>
          <a:ln w="12700">
            <a:solidFill>
              <a:srgbClr val="15121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56692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BAE9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MEAT DETECTION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66928" y="1252728"/>
            <a:ext cx="4160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96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YOLO x Roboflow</a:t>
            </a:r>
            <a:endParaRPr lang="en-US" sz="2996" dirty="0"/>
          </a:p>
          <a:p>
            <a:pPr indent="0" marL="0">
              <a:buNone/>
            </a:pPr>
            <a:r>
              <a:rPr lang="en-US" sz="2996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肉種判定モデルの開発</a:t>
            </a:r>
            <a:endParaRPr lang="en-US" sz="2996" dirty="0"/>
          </a:p>
        </p:txBody>
      </p:sp>
      <p:sp>
        <p:nvSpPr>
          <p:cNvPr id="8" name="Text 5"/>
          <p:cNvSpPr/>
          <p:nvPr/>
        </p:nvSpPr>
        <p:spPr>
          <a:xfrm>
            <a:off x="603504" y="29992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D9D0C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画像中の肉領域を検出し、beef / chicken / lamb / pork を推定する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03504" y="3913632"/>
            <a:ext cx="1051560" cy="292608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3982212"/>
            <a:ext cx="8869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YOLO11s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1783080" y="3913632"/>
            <a:ext cx="1143000" cy="292608"/>
          </a:xfrm>
          <a:prstGeom prst="rect">
            <a:avLst/>
          </a:prstGeom>
          <a:solidFill>
            <a:srgbClr val="1BAE9D"/>
          </a:solidFill>
          <a:ln w="12700">
            <a:solidFill>
              <a:srgbClr val="1BAE9D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65376" y="3982212"/>
            <a:ext cx="9784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Roboflow</a:t>
            </a:r>
            <a:endParaRPr lang="en-US" sz="730" dirty="0"/>
          </a:p>
        </p:txBody>
      </p:sp>
      <p:sp>
        <p:nvSpPr>
          <p:cNvPr id="13" name="Shape 10"/>
          <p:cNvSpPr/>
          <p:nvPr/>
        </p:nvSpPr>
        <p:spPr>
          <a:xfrm>
            <a:off x="3063240" y="3913632"/>
            <a:ext cx="1572768" cy="292608"/>
          </a:xfrm>
          <a:prstGeom prst="rect">
            <a:avLst/>
          </a:prstGeom>
          <a:solidFill>
            <a:srgbClr val="305C8A"/>
          </a:solidFill>
          <a:ln w="12700">
            <a:solidFill>
              <a:srgbClr val="305C8A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45536" y="3982212"/>
            <a:ext cx="14081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Object Detection</a:t>
            </a:r>
            <a:endParaRPr lang="en-US" sz="730" dirty="0"/>
          </a:p>
        </p:txBody>
      </p:sp>
      <p:sp>
        <p:nvSpPr>
          <p:cNvPr id="15" name="Text 12"/>
          <p:cNvSpPr/>
          <p:nvPr/>
        </p:nvSpPr>
        <p:spPr>
          <a:xfrm>
            <a:off x="603504" y="614476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FB3A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Programming 1 Project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>
                <a:alpha val="0"/>
              </a:srgbClr>
            </a:solidFill>
            <a:prstDash val="solid"/>
          </a:ln>
        </p:spPr>
      </p:sp>
      <p:pic>
        <p:nvPicPr>
          <p:cNvPr id="3" name="Image 0" descr="/Users/abesouichirou/Documents/utokyo_lecture/programming1/detect_results/train/val_batch0_pred.jpg">    </p:cNvPr>
          <p:cNvPicPr>
            <a:picLocks noChangeAspect="1"/>
          </p:cNvPicPr>
          <p:nvPr/>
        </p:nvPicPr>
        <p:blipFill>
          <a:blip r:embed="rId1"/>
          <a:srcRect l="12000" r="26933" t="0" b="0"/>
          <a:stretch/>
        </p:blipFill>
        <p:spPr>
          <a:xfrm>
            <a:off x="8001000" y="0"/>
            <a:ext cx="418795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84848" y="0"/>
            <a:ext cx="1143000" cy="6858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6583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発表構成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85216" y="112471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研究目的を正当化し、手法、結果、今後の課題へつなげる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13232" y="1901952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325880" y="1993392"/>
            <a:ext cx="548640" cy="0"/>
          </a:xfrm>
          <a:prstGeom prst="line">
            <a:avLst/>
          </a:prstGeom>
          <a:noFill/>
          <a:ln w="20320">
            <a:solidFill>
              <a:srgbClr val="E4DA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29968" y="1828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はじめに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85032" y="18562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背景、既往研究、課題、目的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85800" y="2331720"/>
            <a:ext cx="5669280" cy="0"/>
          </a:xfrm>
          <a:prstGeom prst="line">
            <a:avLst/>
          </a:prstGeom>
          <a:noFill/>
          <a:ln w="8890">
            <a:solidFill>
              <a:srgbClr val="E4DA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2798064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325880" y="2889504"/>
            <a:ext cx="548640" cy="0"/>
          </a:xfrm>
          <a:prstGeom prst="line">
            <a:avLst/>
          </a:prstGeom>
          <a:noFill/>
          <a:ln w="20320">
            <a:solidFill>
              <a:srgbClr val="1BAE9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29968" y="27249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手法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85032" y="27523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全体の流れ、Roboflow、YOLO、担当分担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85800" y="3227832"/>
            <a:ext cx="5669280" cy="0"/>
          </a:xfrm>
          <a:prstGeom prst="line">
            <a:avLst/>
          </a:prstGeom>
          <a:noFill/>
          <a:ln w="8890">
            <a:solidFill>
              <a:srgbClr val="E4DAD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3694176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325880" y="3785616"/>
            <a:ext cx="548640" cy="0"/>
          </a:xfrm>
          <a:prstGeom prst="line">
            <a:avLst/>
          </a:prstGeom>
          <a:noFill/>
          <a:ln w="20320">
            <a:solidFill>
              <a:srgbClr val="E4DA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029968" y="36210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結果と考察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685032" y="36484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精度指標、推論例、失敗要因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85800" y="4123944"/>
            <a:ext cx="5669280" cy="0"/>
          </a:xfrm>
          <a:prstGeom prst="line">
            <a:avLst/>
          </a:prstGeom>
          <a:noFill/>
          <a:ln w="8890">
            <a:solidFill>
              <a:srgbClr val="E4DAD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3232" y="4590288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325880" y="4681728"/>
            <a:ext cx="548640" cy="0"/>
          </a:xfrm>
          <a:prstGeom prst="line">
            <a:avLst/>
          </a:prstGeom>
          <a:noFill/>
          <a:ln w="20320">
            <a:solidFill>
              <a:srgbClr val="E4DAD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029968" y="45171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結論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3685032" y="45445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目的の過去形と今後の課題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85800" y="5020056"/>
            <a:ext cx="5669280" cy="0"/>
          </a:xfrm>
          <a:prstGeom prst="line">
            <a:avLst/>
          </a:prstGeom>
          <a:noFill/>
          <a:ln w="8890">
            <a:solidFill>
              <a:srgbClr val="E4DAD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00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1章 はじめに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開発の背景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1389888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2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肉の種類は目視で判断されるが、画像上の見え方は安定しない</a:t>
            </a:r>
            <a:endParaRPr lang="en-US" sz="1722" dirty="0"/>
          </a:p>
        </p:txBody>
      </p:sp>
      <p:sp>
        <p:nvSpPr>
          <p:cNvPr id="8" name="Text 6"/>
          <p:cNvSpPr/>
          <p:nvPr/>
        </p:nvSpPr>
        <p:spPr>
          <a:xfrm>
            <a:off x="676656" y="221284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食品管理、食材分類、料理記録では、画像から肉種を自動判定できると有用である。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713232" y="3822192"/>
            <a:ext cx="1554480" cy="73152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40416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色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" y="43708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照明で赤みや白さが変わる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697480" y="3822192"/>
            <a:ext cx="1554480" cy="73152"/>
          </a:xfrm>
          <a:prstGeom prst="rect">
            <a:avLst/>
          </a:prstGeom>
          <a:solidFill>
            <a:srgbClr val="D79B38"/>
          </a:solidFill>
          <a:ln w="12700">
            <a:solidFill>
              <a:srgbClr val="D79B3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40416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脂身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97480" y="43708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部位や切り方で分布が変わる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681728" y="3822192"/>
            <a:ext cx="1554480" cy="73152"/>
          </a:xfrm>
          <a:prstGeom prst="rect">
            <a:avLst/>
          </a:prstGeom>
          <a:solidFill>
            <a:srgbClr val="1BAE9D"/>
          </a:solidFill>
          <a:ln w="12700">
            <a:solidFill>
              <a:srgbClr val="1BAE9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40416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形状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81728" y="43708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一部だけ写ると特徴が減る</a:t>
            </a:r>
            <a:endParaRPr lang="en-US" sz="880" dirty="0"/>
          </a:p>
        </p:txBody>
      </p:sp>
      <p:pic>
        <p:nvPicPr>
          <p:cNvPr id="18" name="Image 0" descr="/Users/abesouichirou/Documents/utokyo_lecture/programming1/detect_results/train/val_batch0_pred.jpg">    </p:cNvPr>
          <p:cNvPicPr>
            <a:picLocks noChangeAspect="1"/>
          </p:cNvPicPr>
          <p:nvPr/>
        </p:nvPicPr>
        <p:blipFill>
          <a:blip r:embed="rId1"/>
          <a:srcRect l="20000" r="10761" t="8000" b="22000"/>
          <a:stretch/>
        </p:blipFill>
        <p:spPr>
          <a:xfrm>
            <a:off x="7315200" y="1298448"/>
            <a:ext cx="4160520" cy="420624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315200" y="5742432"/>
            <a:ext cx="1143000" cy="219456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06640" y="5779008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Problem</a:t>
            </a:r>
            <a:endParaRPr lang="en-US" sz="660" dirty="0"/>
          </a:p>
        </p:txBody>
      </p:sp>
      <p:sp>
        <p:nvSpPr>
          <p:cNvPr id="21" name="Text 18"/>
          <p:cNvSpPr/>
          <p:nvPr/>
        </p:nvSpPr>
        <p:spPr>
          <a:xfrm>
            <a:off x="8641080" y="576072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人の判断が揺れる条件は、モデルの判断も揺らす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00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1章 はじめに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既往研究・関連技術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134416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食品画像認識では、画像分類と物体検出がよく使われる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49808" y="2048256"/>
            <a:ext cx="2880360" cy="1920240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048256"/>
            <a:ext cx="2880360" cy="109728"/>
          </a:xfrm>
          <a:prstGeom prst="rect">
            <a:avLst/>
          </a:prstGeom>
          <a:solidFill>
            <a:srgbClr val="305C8A"/>
          </a:solidFill>
          <a:ln w="12700">
            <a:solidFill>
              <a:srgbClr val="305C8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3957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CNN分類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9264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画像全体を1つのクラスに分類する。食材写真の分類で広く利用される。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425696" y="2048256"/>
            <a:ext cx="2880360" cy="1920240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25696" y="2048256"/>
            <a:ext cx="2880360" cy="109728"/>
          </a:xfrm>
          <a:prstGeom prst="rect">
            <a:avLst/>
          </a:prstGeom>
          <a:solidFill>
            <a:srgbClr val="1BAE9D"/>
          </a:solidFill>
          <a:ln w="12700">
            <a:solidFill>
              <a:srgbClr val="1BAE9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23957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YOLO検出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45152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物体の位置と種類を同時に推定する。複数対象や背景を含む画像に向く。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101584" y="2048256"/>
            <a:ext cx="2880360" cy="1920240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2048256"/>
            <a:ext cx="2880360" cy="109728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3957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Roboflow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アノテーション、分割、前処理、拡張、YOLO形式出力を一元管理する。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1481328" y="4873752"/>
            <a:ext cx="886968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3035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本研究の位置づけ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06040" y="5321808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既存モデルを使い、肉種に合わせたデータセット設計と失敗分析に焦点を置く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372600" y="5230368"/>
            <a:ext cx="685800" cy="292608"/>
          </a:xfrm>
          <a:prstGeom prst="rect">
            <a:avLst/>
          </a:prstGeom>
          <a:solidFill>
            <a:srgbClr val="1BAE9D"/>
          </a:solidFill>
          <a:ln w="12700">
            <a:solidFill>
              <a:srgbClr val="1BAE9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54896" y="5298948"/>
            <a:ext cx="521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検出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10195560" y="5230368"/>
            <a:ext cx="685800" cy="292608"/>
          </a:xfrm>
          <a:prstGeom prst="rect">
            <a:avLst/>
          </a:prstGeom>
          <a:solidFill>
            <a:srgbClr val="305C8A"/>
          </a:solidFill>
          <a:ln w="12700">
            <a:solidFill>
              <a:srgbClr val="305C8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77856" y="5298948"/>
            <a:ext cx="521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分類</a:t>
            </a: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11018520" y="5230368"/>
            <a:ext cx="685800" cy="292608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00816" y="5298948"/>
            <a:ext cx="521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考察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00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1章 はじめに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肉画像認識の課題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05</a:t>
            </a:r>
            <a:endParaRPr lang="en-US" sz="750" dirty="0"/>
          </a:p>
        </p:txBody>
      </p:sp>
      <p:pic>
        <p:nvPicPr>
          <p:cNvPr id="7" name="Image 0" descr="/Users/abesouichirou/Documents/utokyo_lecture/programming1/detect_results/predict/istockphoto-1300699678-612x612_jpg.rf.40f23d801c52831b734920aeb4ea53c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325880"/>
            <a:ext cx="2880360" cy="2880360"/>
          </a:xfrm>
          <a:prstGeom prst="rect">
            <a:avLst/>
          </a:prstGeom>
        </p:spPr>
      </p:pic>
      <p:pic>
        <p:nvPicPr>
          <p:cNvPr id="8" name="Image 1" descr="/Users/abesouichirou/Documents/utokyo_lecture/programming1/detect_results/predict/category-pork-1024x768_png.rf.572d8e91e0194c0c525ee4144dfe7ca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49040" y="1325880"/>
            <a:ext cx="2880360" cy="28803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76656" y="4462272"/>
            <a:ext cx="5943600" cy="64008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13232" y="477316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似ている見た目が、誤分類の原因になる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360920" y="1417320"/>
            <a:ext cx="416052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r>
              <a:rPr lang="en-US" sz="140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色や脂身が似るクラスがある</a:t>
            </a:r>
            <a:endParaRPr lang="en-US" sz="1400" dirty="0"/>
          </a:p>
          <a:p>
            <a:r>
              <a:rPr lang="en-US" sz="140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同じクラスでも部位や切り方で変化する</a:t>
            </a:r>
            <a:endParaRPr lang="en-US" sz="1400" dirty="0"/>
          </a:p>
          <a:p>
            <a:r>
              <a:rPr lang="en-US" sz="140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背景、トレー、包装を手がかりにするリスクがある</a:t>
            </a:r>
            <a:endParaRPr lang="en-US" sz="1400" dirty="0"/>
          </a:p>
          <a:p>
            <a:r>
              <a:rPr lang="en-US" sz="140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画像枚数が少ないと撮影条件に過学習しやすい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360920" y="4782312"/>
            <a:ext cx="1261872" cy="219456"/>
          </a:xfrm>
          <a:prstGeom prst="rect">
            <a:avLst/>
          </a:prstGeom>
          <a:solidFill>
            <a:srgbClr val="1BAE9D"/>
          </a:solidFill>
          <a:ln w="12700">
            <a:solidFill>
              <a:srgbClr val="1BAE9D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452360" y="4818888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Key issue</a:t>
            </a:r>
            <a:endParaRPr lang="en-US" sz="660" dirty="0"/>
          </a:p>
        </p:txBody>
      </p:sp>
      <p:sp>
        <p:nvSpPr>
          <p:cNvPr id="14" name="Text 10"/>
          <p:cNvSpPr/>
          <p:nvPr/>
        </p:nvSpPr>
        <p:spPr>
          <a:xfrm>
            <a:off x="8778240" y="480974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モデル性能だけでなく、データの作り方が精度を左右する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00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1章 はじめに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研究目的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13232" y="15087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98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YOLOとRoboflowを用いて、肉画像から肉の位置と種類を判定するモデルを構築し、認識性能と失敗要因を分析する。</a:t>
            </a:r>
            <a:endParaRPr lang="en-US" sz="2398" dirty="0"/>
          </a:p>
        </p:txBody>
      </p:sp>
      <p:sp>
        <p:nvSpPr>
          <p:cNvPr id="8" name="Shape 6"/>
          <p:cNvSpPr/>
          <p:nvPr/>
        </p:nvSpPr>
        <p:spPr>
          <a:xfrm>
            <a:off x="768096" y="3675888"/>
            <a:ext cx="2971800" cy="1463040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9502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Build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7552" y="43434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肉画像データセットを作成し、YOLO形式で扱えるようにする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17136" y="3675888"/>
            <a:ext cx="2971800" cy="1463040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39502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AE9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Measure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36592" y="43434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Precision、Recall、mAPで検出性能を確認する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66176" y="3675888"/>
            <a:ext cx="2971800" cy="1463040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39502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05C8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Explain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485632" y="43434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成功例と失敗例から、肉画像認識の課題を考察する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00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2章 手法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全体の流れ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07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1600200"/>
            <a:ext cx="2331720" cy="932688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600200"/>
            <a:ext cx="384048" cy="932688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93852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16152" y="176479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画像収集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1216152" y="2020824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肉画像を集める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118104" y="2066544"/>
            <a:ext cx="320040" cy="0"/>
          </a:xfrm>
          <a:prstGeom prst="line">
            <a:avLst/>
          </a:prstGeom>
          <a:noFill/>
          <a:ln w="13970">
            <a:solidFill>
              <a:srgbClr val="E4DAD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02152" y="1600200"/>
            <a:ext cx="2331720" cy="932688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02152" y="1600200"/>
            <a:ext cx="384048" cy="932688"/>
          </a:xfrm>
          <a:prstGeom prst="rect">
            <a:avLst/>
          </a:prstGeom>
          <a:solidFill>
            <a:srgbClr val="1BAE9D"/>
          </a:solidFill>
          <a:ln w="12700">
            <a:solidFill>
              <a:srgbClr val="1BAE9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2736" y="193852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05072" y="176479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アノテーション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4005072" y="2020824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肉領域をBBox化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907024" y="2066544"/>
            <a:ext cx="320040" cy="0"/>
          </a:xfrm>
          <a:prstGeom prst="line">
            <a:avLst/>
          </a:prstGeom>
          <a:noFill/>
          <a:ln w="13970">
            <a:solidFill>
              <a:srgbClr val="E4DAD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91072" y="1600200"/>
            <a:ext cx="2331720" cy="932688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91072" y="1600200"/>
            <a:ext cx="384048" cy="932688"/>
          </a:xfrm>
          <a:prstGeom prst="rect">
            <a:avLst/>
          </a:prstGeom>
          <a:solidFill>
            <a:srgbClr val="305C8A"/>
          </a:solidFill>
          <a:ln w="12700">
            <a:solidFill>
              <a:srgbClr val="305C8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656" y="193852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93992" y="176479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前処理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6793992" y="2020824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サイズ統一と分割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8695944" y="2066544"/>
            <a:ext cx="320040" cy="0"/>
          </a:xfrm>
          <a:prstGeom prst="line">
            <a:avLst/>
          </a:prstGeom>
          <a:noFill/>
          <a:ln w="13970">
            <a:solidFill>
              <a:srgbClr val="E4DAD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79992" y="1600200"/>
            <a:ext cx="2331720" cy="932688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9992" y="1600200"/>
            <a:ext cx="384048" cy="932688"/>
          </a:xfrm>
          <a:prstGeom prst="rect">
            <a:avLst/>
          </a:prstGeom>
          <a:solidFill>
            <a:srgbClr val="D79B38"/>
          </a:solidFill>
          <a:ln w="12700">
            <a:solidFill>
              <a:srgbClr val="D79B3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0576" y="193852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582912" y="176479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データ拡張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9582912" y="2020824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見え方の揺れを補う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13232" y="3822192"/>
            <a:ext cx="2331720" cy="932688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" y="3822192"/>
            <a:ext cx="384048" cy="932688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" y="416052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16152" y="39867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YOLO学習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1216152" y="4242816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位置とクラスを学習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118104" y="4288536"/>
            <a:ext cx="320040" cy="0"/>
          </a:xfrm>
          <a:prstGeom prst="line">
            <a:avLst/>
          </a:prstGeom>
          <a:noFill/>
          <a:ln w="13970">
            <a:solidFill>
              <a:srgbClr val="E4DAD2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502152" y="3822192"/>
            <a:ext cx="2331720" cy="932688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02152" y="3822192"/>
            <a:ext cx="384048" cy="932688"/>
          </a:xfrm>
          <a:prstGeom prst="rect">
            <a:avLst/>
          </a:prstGeom>
          <a:solidFill>
            <a:srgbClr val="1BAE9D"/>
          </a:solidFill>
          <a:ln w="12700">
            <a:solidFill>
              <a:srgbClr val="1BAE9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02736" y="416052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005072" y="39867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推論・評価</a:t>
            </a:r>
            <a:endParaRPr lang="en-US" sz="960" dirty="0"/>
          </a:p>
        </p:txBody>
      </p:sp>
      <p:sp>
        <p:nvSpPr>
          <p:cNvPr id="40" name="Text 38"/>
          <p:cNvSpPr/>
          <p:nvPr/>
        </p:nvSpPr>
        <p:spPr>
          <a:xfrm>
            <a:off x="4005072" y="4242816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指標と画像で確認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907024" y="4288536"/>
            <a:ext cx="320040" cy="0"/>
          </a:xfrm>
          <a:prstGeom prst="line">
            <a:avLst/>
          </a:prstGeom>
          <a:noFill/>
          <a:ln w="13970">
            <a:solidFill>
              <a:srgbClr val="E4DAD2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291072" y="3822192"/>
            <a:ext cx="2331720" cy="932688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91072" y="3822192"/>
            <a:ext cx="384048" cy="932688"/>
          </a:xfrm>
          <a:prstGeom prst="rect">
            <a:avLst/>
          </a:prstGeom>
          <a:solidFill>
            <a:srgbClr val="305C8A"/>
          </a:solidFill>
          <a:ln w="12700">
            <a:solidFill>
              <a:srgbClr val="305C8A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1656" y="416052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93992" y="39867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考察</a:t>
            </a:r>
            <a:endParaRPr lang="en-US" sz="960" dirty="0"/>
          </a:p>
        </p:txBody>
      </p:sp>
      <p:sp>
        <p:nvSpPr>
          <p:cNvPr id="46" name="Text 44"/>
          <p:cNvSpPr/>
          <p:nvPr/>
        </p:nvSpPr>
        <p:spPr>
          <a:xfrm>
            <a:off x="6793992" y="4242816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失敗要因を整理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31520" y="59893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Roboflowで作ったデータセットをYOLOに渡し、検出結果と誤り方を確認する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00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2章 手法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データセット作成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08</a:t>
            </a:r>
            <a:endParaRPr lang="en-US" sz="750" dirty="0"/>
          </a:p>
        </p:txBody>
      </p:sp>
      <p:pic>
        <p:nvPicPr>
          <p:cNvPr id="7" name="Image 0" descr="/Users/abesouichirou/Documents/utokyo_lecture/programming1/detect_results/train/label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417320"/>
            <a:ext cx="3108960" cy="3108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60520" y="1481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対象クラス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187952" y="1938528"/>
            <a:ext cx="1234440" cy="292608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70248" y="2007108"/>
            <a:ext cx="10698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beef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5742432" y="1938528"/>
            <a:ext cx="1234440" cy="292608"/>
          </a:xfrm>
          <a:prstGeom prst="rect">
            <a:avLst/>
          </a:prstGeom>
          <a:solidFill>
            <a:srgbClr val="D79B38"/>
          </a:solidFill>
          <a:ln w="12700">
            <a:solidFill>
              <a:srgbClr val="D79B3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24728" y="2007108"/>
            <a:ext cx="10698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chicken</a:t>
            </a:r>
            <a:endParaRPr lang="en-US" sz="730" dirty="0"/>
          </a:p>
        </p:txBody>
      </p:sp>
      <p:sp>
        <p:nvSpPr>
          <p:cNvPr id="13" name="Shape 10"/>
          <p:cNvSpPr/>
          <p:nvPr/>
        </p:nvSpPr>
        <p:spPr>
          <a:xfrm>
            <a:off x="4187952" y="2505456"/>
            <a:ext cx="1234440" cy="292608"/>
          </a:xfrm>
          <a:prstGeom prst="rect">
            <a:avLst/>
          </a:prstGeom>
          <a:solidFill>
            <a:srgbClr val="1BAE9D"/>
          </a:solidFill>
          <a:ln w="12700">
            <a:solidFill>
              <a:srgbClr val="1BAE9D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70248" y="2574036"/>
            <a:ext cx="10698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lamb</a:t>
            </a:r>
            <a:endParaRPr lang="en-US" sz="730" dirty="0"/>
          </a:p>
        </p:txBody>
      </p:sp>
      <p:sp>
        <p:nvSpPr>
          <p:cNvPr id="15" name="Shape 12"/>
          <p:cNvSpPr/>
          <p:nvPr/>
        </p:nvSpPr>
        <p:spPr>
          <a:xfrm>
            <a:off x="5742432" y="2505456"/>
            <a:ext cx="1234440" cy="292608"/>
          </a:xfrm>
          <a:prstGeom prst="rect">
            <a:avLst/>
          </a:prstGeom>
          <a:solidFill>
            <a:srgbClr val="D94E59"/>
          </a:solidFill>
          <a:ln w="12700">
            <a:solidFill>
              <a:srgbClr val="D94E59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24728" y="2574036"/>
            <a:ext cx="10698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pork</a:t>
            </a:r>
            <a:endParaRPr lang="en-US" sz="730" dirty="0"/>
          </a:p>
        </p:txBody>
      </p:sp>
      <p:sp>
        <p:nvSpPr>
          <p:cNvPr id="17" name="Text 14"/>
          <p:cNvSpPr/>
          <p:nvPr/>
        </p:nvSpPr>
        <p:spPr>
          <a:xfrm>
            <a:off x="4224528" y="3182112"/>
            <a:ext cx="33375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r>
              <a:rPr lang="en-US" sz="115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画像中の肉だけをバウンディングボックスで指定</a:t>
            </a:r>
            <a:endParaRPr lang="en-US" sz="1150" dirty="0"/>
          </a:p>
          <a:p>
            <a:r>
              <a:rPr lang="en-US" sz="115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画像全体ではなく、位置と種類を同時に学習</a:t>
            </a:r>
            <a:endParaRPr lang="en-US" sz="1150" dirty="0"/>
          </a:p>
          <a:p>
            <a:r>
              <a:rPr lang="en-US" sz="115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train / validation / test に分割して評価</a:t>
            </a:r>
            <a:endParaRPr lang="en-US" sz="1150" dirty="0"/>
          </a:p>
          <a:p>
            <a:r>
              <a:rPr lang="en-US" sz="115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Roboflowでデータセットのバージョンを管理</a:t>
            </a:r>
            <a:endParaRPr lang="en-US" sz="1150" dirty="0"/>
          </a:p>
        </p:txBody>
      </p:sp>
      <p:pic>
        <p:nvPicPr>
          <p:cNvPr id="18" name="Image 1" descr="/Users/abesouichirou/Documents/utokyo_lecture/programming1/detect_results/train/val_batch0_pred.jpg">    </p:cNvPr>
          <p:cNvPicPr>
            <a:picLocks noChangeAspect="1"/>
          </p:cNvPicPr>
          <p:nvPr/>
        </p:nvPicPr>
        <p:blipFill>
          <a:blip r:embed="rId2"/>
          <a:srcRect l="32000" r="22000" t="20000" b="34000"/>
          <a:stretch/>
        </p:blipFill>
        <p:spPr>
          <a:xfrm>
            <a:off x="8092440" y="1417320"/>
            <a:ext cx="3401568" cy="340156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092440" y="5166360"/>
            <a:ext cx="1417320" cy="219456"/>
          </a:xfrm>
          <a:prstGeom prst="rect">
            <a:avLst/>
          </a:prstGeom>
          <a:solidFill>
            <a:srgbClr val="1BAE9D"/>
          </a:solidFill>
          <a:ln w="12700">
            <a:solidFill>
              <a:srgbClr val="1BAE9D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183880" y="5202936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Annotation</a:t>
            </a:r>
            <a:endParaRPr lang="en-US" sz="660" dirty="0"/>
          </a:p>
        </p:txBody>
      </p:sp>
      <p:sp>
        <p:nvSpPr>
          <p:cNvPr id="21" name="Text 17"/>
          <p:cNvSpPr/>
          <p:nvPr/>
        </p:nvSpPr>
        <p:spPr>
          <a:xfrm>
            <a:off x="9692640" y="5202936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BBoxがYOLOの教師信号になる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00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2章 手法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Roboflowでの工夫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肉画像は撮影条件に左右されるため、データ側で揺れを持たせる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04672" y="2148840"/>
            <a:ext cx="146304" cy="146304"/>
          </a:xfrm>
          <a:prstGeom prst="rect">
            <a:avLst/>
          </a:prstGeom>
          <a:solidFill>
            <a:srgbClr val="305C8A"/>
          </a:solidFill>
          <a:ln w="12700">
            <a:solidFill>
              <a:srgbClr val="305C8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10312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05C8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Resize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14600" y="209397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画像サイズを640pxに統一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" y="2532888"/>
            <a:ext cx="5166360" cy="0"/>
          </a:xfrm>
          <a:prstGeom prst="line">
            <a:avLst/>
          </a:prstGeom>
          <a:noFill/>
          <a:ln w="8890">
            <a:solidFill>
              <a:srgbClr val="E4DA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898648"/>
            <a:ext cx="146304" cy="146304"/>
          </a:xfrm>
          <a:prstGeom prst="rect">
            <a:avLst/>
          </a:prstGeom>
          <a:solidFill>
            <a:srgbClr val="1BAE9D"/>
          </a:solidFill>
          <a:ln w="12700">
            <a:solidFill>
              <a:srgbClr val="1BAE9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852928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AE9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Split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14600" y="284378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学習、検証、テストに分割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" y="3282696"/>
            <a:ext cx="5166360" cy="0"/>
          </a:xfrm>
          <a:prstGeom prst="line">
            <a:avLst/>
          </a:prstGeom>
          <a:noFill/>
          <a:ln w="8890">
            <a:solidFill>
              <a:srgbClr val="E4DA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648456"/>
            <a:ext cx="146304" cy="146304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6027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Augment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14600" y="359359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反転、拡大縮小、色変化など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" y="4032504"/>
            <a:ext cx="5166360" cy="0"/>
          </a:xfrm>
          <a:prstGeom prst="line">
            <a:avLst/>
          </a:prstGeom>
          <a:noFill/>
          <a:ln w="8890">
            <a:solidFill>
              <a:srgbClr val="E4DA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398264"/>
            <a:ext cx="146304" cy="146304"/>
          </a:xfrm>
          <a:prstGeom prst="rect">
            <a:avLst/>
          </a:prstGeom>
          <a:solidFill>
            <a:srgbClr val="D79B38"/>
          </a:solidFill>
          <a:ln w="12700">
            <a:solidFill>
              <a:srgbClr val="D79B3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35254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9B3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Export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14600" y="434340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YOLO形式で出力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" y="4782312"/>
            <a:ext cx="5166360" cy="0"/>
          </a:xfrm>
          <a:prstGeom prst="line">
            <a:avLst/>
          </a:prstGeom>
          <a:noFill/>
          <a:ln w="8890">
            <a:solidFill>
              <a:srgbClr val="E4DA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691640"/>
            <a:ext cx="4297680" cy="3383280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0608" y="20848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オリジナリティ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150608" y="254203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9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肉の見え方が変わる前提で、データセット設計と失敗例分析を重視した</a:t>
            </a:r>
            <a:endParaRPr lang="en-US" sz="1659" dirty="0"/>
          </a:p>
        </p:txBody>
      </p:sp>
      <p:sp>
        <p:nvSpPr>
          <p:cNvPr id="27" name="Text 25"/>
          <p:cNvSpPr/>
          <p:nvPr/>
        </p:nvSpPr>
        <p:spPr>
          <a:xfrm>
            <a:off x="7178040" y="39776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モデルを新規提案するのではなく、対象に合わせたデータ作成を検証対象にした。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00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2章 手法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YOLOによる学習と担当分担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94944" y="1389888"/>
            <a:ext cx="3703320" cy="4206240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55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学習設定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7552" y="224942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model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1920240" y="223113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yolo11s.pt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87552" y="2688336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epochs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1920240" y="267004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87552" y="3127248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imgsz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1920240" y="31089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640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87552" y="356616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batch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1920240" y="354787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7552" y="4005072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task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1920240" y="398678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detect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1847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入力</a:t>
            </a:r>
            <a:endParaRPr lang="en-US" sz="1000" dirty="0"/>
          </a:p>
        </p:txBody>
      </p:sp>
      <p:pic>
        <p:nvPicPr>
          <p:cNvPr id="20" name="Image 0" descr="/Users/abesouichirou/Documents/utokyo_lecture/programming1/detect_results/predict/IMG_2571_jpg.rf.ede6c052f742170fc837e6c3e2b0ed3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00600" y="2157984"/>
            <a:ext cx="1572768" cy="15727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473952" y="2944368"/>
            <a:ext cx="475488" cy="0"/>
          </a:xfrm>
          <a:prstGeom prst="line">
            <a:avLst/>
          </a:prstGeom>
          <a:noFill/>
          <a:ln w="17780">
            <a:solidFill>
              <a:srgbClr val="1BAE9D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7086600" y="283464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YOLO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726680" y="2944368"/>
            <a:ext cx="502920" cy="0"/>
          </a:xfrm>
          <a:prstGeom prst="line">
            <a:avLst/>
          </a:prstGeom>
          <a:noFill/>
          <a:ln w="17780">
            <a:solidFill>
              <a:srgbClr val="1BAE9D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8302752" y="1847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出力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302752" y="2212848"/>
            <a:ext cx="2697480" cy="1344168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13648" y="245973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肉の位置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種類ラベル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709160" y="4297680"/>
            <a:ext cx="6263640" cy="73152"/>
          </a:xfrm>
          <a:prstGeom prst="rect">
            <a:avLst/>
          </a:prstGeom>
          <a:solidFill>
            <a:srgbClr val="E4DAD2"/>
          </a:solidFill>
          <a:ln w="12700">
            <a:solidFill>
              <a:srgbClr val="E4DAD2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36592" y="46451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担当分担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263640" y="4663440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データ収集 / アノテーション / 前処理 / 学習 / 評価 / 発表資料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00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3章 結果と考察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学習結果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最終epochの評価指標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901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Precision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84832" y="1929384"/>
            <a:ext cx="2103120" cy="118872"/>
          </a:xfrm>
          <a:prstGeom prst="rect">
            <a:avLst/>
          </a:prstGeom>
          <a:solidFill>
            <a:srgbClr val="E4DAD2"/>
          </a:solidFill>
          <a:ln w="12700">
            <a:solidFill>
              <a:srgbClr val="E4DAD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4832" y="1929384"/>
            <a:ext cx="1867949" cy="118872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188366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88.8%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" y="256032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Recall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84832" y="2587752"/>
            <a:ext cx="2103120" cy="118872"/>
          </a:xfrm>
          <a:prstGeom prst="rect">
            <a:avLst/>
          </a:prstGeom>
          <a:solidFill>
            <a:srgbClr val="E4DAD2"/>
          </a:solidFill>
          <a:ln w="12700">
            <a:solidFill>
              <a:srgbClr val="E4DAD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84832" y="2587752"/>
            <a:ext cx="1657490" cy="118872"/>
          </a:xfrm>
          <a:prstGeom prst="rect">
            <a:avLst/>
          </a:prstGeom>
          <a:solidFill>
            <a:srgbClr val="1BAE9D"/>
          </a:solidFill>
          <a:ln w="12700">
            <a:solidFill>
              <a:srgbClr val="1BAE9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254203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78.8%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" y="32186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mAP50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84832" y="3246120"/>
            <a:ext cx="2103120" cy="118872"/>
          </a:xfrm>
          <a:prstGeom prst="rect">
            <a:avLst/>
          </a:prstGeom>
          <a:solidFill>
            <a:srgbClr val="E4DAD2"/>
          </a:solidFill>
          <a:ln w="12700">
            <a:solidFill>
              <a:srgbClr val="E4DAD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84832" y="3246120"/>
            <a:ext cx="1822690" cy="118872"/>
          </a:xfrm>
          <a:prstGeom prst="rect">
            <a:avLst/>
          </a:prstGeom>
          <a:solidFill>
            <a:srgbClr val="305C8A"/>
          </a:solidFill>
          <a:ln w="12700">
            <a:solidFill>
              <a:srgbClr val="305C8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70832" y="32004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86.7%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" y="387705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mAP50-95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84832" y="3904488"/>
            <a:ext cx="2103120" cy="118872"/>
          </a:xfrm>
          <a:prstGeom prst="rect">
            <a:avLst/>
          </a:prstGeom>
          <a:solidFill>
            <a:srgbClr val="E4DAD2"/>
          </a:solidFill>
          <a:ln w="12700">
            <a:solidFill>
              <a:srgbClr val="E4DAD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84832" y="3904488"/>
            <a:ext cx="1335187" cy="118872"/>
          </a:xfrm>
          <a:prstGeom prst="rect">
            <a:avLst/>
          </a:prstGeom>
          <a:solidFill>
            <a:srgbClr val="D79B38"/>
          </a:solidFill>
          <a:ln w="12700">
            <a:solidFill>
              <a:srgbClr val="D79B3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85876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63.5%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" y="48646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一定条件では検出できたが、mAP50-95は63.5%で、厳密な位置合わせには改善余地がある。</a:t>
            </a:r>
            <a:endParaRPr lang="en-US" sz="1120" dirty="0"/>
          </a:p>
        </p:txBody>
      </p:sp>
      <p:pic>
        <p:nvPicPr>
          <p:cNvPr id="25" name="Image 0" descr="/Users/abesouichirou/Documents/utokyo_lecture/programming1/detect_results/train/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6128" y="1981962"/>
            <a:ext cx="5715000" cy="28575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650992" y="5687568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出典: detect_results/train/results.csv, results.png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00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3章 結果と考察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推論例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13232" y="12984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confidenceが付いた検出枠として出力される</a:t>
            </a:r>
            <a:endParaRPr lang="en-US" sz="1900" dirty="0"/>
          </a:p>
        </p:txBody>
      </p:sp>
      <p:pic>
        <p:nvPicPr>
          <p:cNvPr id="8" name="Image 0" descr="/Users/abesouichirou/Documents/utokyo_lecture/programming1/detect_results/predict/IMG_2571_jpg.rf.ede6c052f742170fc837e6c3e2b0ed3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" y="1865376"/>
            <a:ext cx="2331720" cy="2331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8096" y="1865376"/>
            <a:ext cx="233172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1BAE9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8096" y="1865376"/>
            <a:ext cx="2331720" cy="310896"/>
          </a:xfrm>
          <a:prstGeom prst="rect">
            <a:avLst/>
          </a:prstGeom>
          <a:solidFill>
            <a:srgbClr val="1BAE9D"/>
          </a:solidFill>
          <a:ln w="12700">
            <a:solidFill>
              <a:srgbClr val="1BAE9D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1929384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lamb 0.81</a:t>
            </a:r>
            <a:endParaRPr lang="en-US" sz="750" dirty="0"/>
          </a:p>
        </p:txBody>
      </p:sp>
      <p:pic>
        <p:nvPicPr>
          <p:cNvPr id="12" name="Image 1" descr="/Users/abesouichirou/Documents/utokyo_lecture/programming1/detect_results/predict/category-pork-1024x768_png.rf.572d8e91e0194c0c525ee4144dfe7ca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55848" y="1865376"/>
            <a:ext cx="2331720" cy="23317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55848" y="1865376"/>
            <a:ext cx="233172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D94E5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355848" y="1865376"/>
            <a:ext cx="2331720" cy="310896"/>
          </a:xfrm>
          <a:prstGeom prst="rect">
            <a:avLst/>
          </a:prstGeom>
          <a:solidFill>
            <a:srgbClr val="D94E59"/>
          </a:solidFill>
          <a:ln w="12700">
            <a:solidFill>
              <a:srgbClr val="D94E59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47288" y="1929384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pork 0.58</a:t>
            </a:r>
            <a:endParaRPr lang="en-US" sz="750" dirty="0"/>
          </a:p>
        </p:txBody>
      </p:sp>
      <p:pic>
        <p:nvPicPr>
          <p:cNvPr id="16" name="Image 2" descr="/Users/abesouichirou/Documents/utokyo_lecture/programming1/detect_results/predict/istockphoto-1300699678-612x612_jpg.rf.40f23d801c52831b734920aeb4ea53c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43600" y="1865376"/>
            <a:ext cx="2331720" cy="23317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943600" y="1865376"/>
            <a:ext cx="233172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305C8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943600" y="1865376"/>
            <a:ext cx="2331720" cy="310896"/>
          </a:xfrm>
          <a:prstGeom prst="rect">
            <a:avLst/>
          </a:prstGeom>
          <a:solidFill>
            <a:srgbClr val="305C8A"/>
          </a:solidFill>
          <a:ln w="12700">
            <a:solidFill>
              <a:srgbClr val="305C8A">
                <a:alpha val="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035040" y="1929384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lamb 0.55</a:t>
            </a:r>
            <a:endParaRPr lang="en-US" sz="750" dirty="0"/>
          </a:p>
        </p:txBody>
      </p:sp>
      <p:pic>
        <p:nvPicPr>
          <p:cNvPr id="20" name="Image 3" descr="/Users/abesouichirou/Documents/utokyo_lecture/programming1/detect_results/predict/pngtree-red-meat-on-a-white-cut-out-picture-image_13276259_png.rf.b5d2f746cfb72290f0109194277ae8b2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531352" y="1865376"/>
            <a:ext cx="2331720" cy="233172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531352" y="1865376"/>
            <a:ext cx="233172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D79B3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531352" y="1865376"/>
            <a:ext cx="2331720" cy="310896"/>
          </a:xfrm>
          <a:prstGeom prst="rect">
            <a:avLst/>
          </a:prstGeom>
          <a:solidFill>
            <a:srgbClr val="D79B38"/>
          </a:solidFill>
          <a:ln w="12700">
            <a:solidFill>
              <a:srgbClr val="D79B38">
                <a:alpha val="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8622792" y="1929384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例: 判断が難しい画像</a:t>
            </a:r>
            <a:endParaRPr lang="en-US" sz="750" dirty="0"/>
          </a:p>
        </p:txBody>
      </p:sp>
      <p:sp>
        <p:nvSpPr>
          <p:cNvPr id="24" name="Shape 18"/>
          <p:cNvSpPr/>
          <p:nvPr/>
        </p:nvSpPr>
        <p:spPr>
          <a:xfrm>
            <a:off x="932688" y="4828032"/>
            <a:ext cx="4526280" cy="658368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161288" y="4974336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BAE9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成功しやすい条件</a:t>
            </a:r>
            <a:endParaRPr lang="en-US" sz="830" dirty="0"/>
          </a:p>
        </p:txBody>
      </p:sp>
      <p:sp>
        <p:nvSpPr>
          <p:cNvPr id="26" name="Text 20"/>
          <p:cNvSpPr/>
          <p:nvPr/>
        </p:nvSpPr>
        <p:spPr>
          <a:xfrm>
            <a:off x="2651760" y="49651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肉が大きく、背景が単純で、脂身や色の特徴が見える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6345936" y="4828032"/>
            <a:ext cx="4526280" cy="658368"/>
          </a:xfrm>
          <a:prstGeom prst="rect">
            <a:avLst/>
          </a:prstGeom>
          <a:solidFill>
            <a:srgbClr val="FFFDF9"/>
          </a:solidFill>
          <a:ln w="12700">
            <a:solidFill>
              <a:srgbClr val="E4DAD2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574536" y="4974336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難しい条件</a:t>
            </a:r>
            <a:endParaRPr lang="en-US" sz="830" dirty="0"/>
          </a:p>
        </p:txBody>
      </p:sp>
      <p:sp>
        <p:nvSpPr>
          <p:cNvPr id="29" name="Text 23"/>
          <p:cNvSpPr/>
          <p:nvPr/>
        </p:nvSpPr>
        <p:spPr>
          <a:xfrm>
            <a:off x="8065008" y="49651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透かし、背景、暗さ、肉同士の類似でconfidenceが下がる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00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23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3章 結果と考察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結果の考察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11064240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</a:t>
            </a:r>
            <a:endParaRPr lang="en-US" sz="750" dirty="0"/>
          </a:p>
        </p:txBody>
      </p:sp>
      <p:pic>
        <p:nvPicPr>
          <p:cNvPr id="7" name="Image 0" descr="/Users/abesouichirou/Documents/utokyo_lecture/programming1/detect_results/train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564767"/>
            <a:ext cx="5349240" cy="40119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13990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混同行列から見えること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46520" y="1965960"/>
            <a:ext cx="128016" cy="128016"/>
          </a:xfrm>
          <a:prstGeom prst="rect">
            <a:avLst/>
          </a:prstGeom>
          <a:solidFill>
            <a:srgbClr val="1BAE9D"/>
          </a:solidFill>
          <a:ln w="12700">
            <a:solidFill>
              <a:srgbClr val="1BAE9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12280" y="192024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判定できた点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8577072" y="19293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lambなど特徴が強い画像では正解数が多い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6446520" y="2478024"/>
            <a:ext cx="4663440" cy="0"/>
          </a:xfrm>
          <a:prstGeom prst="line">
            <a:avLst/>
          </a:prstGeom>
          <a:noFill/>
          <a:ln w="8890">
            <a:solidFill>
              <a:srgbClr val="E4DAD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46520" y="2926080"/>
            <a:ext cx="128016" cy="128016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12280" y="288036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誤りやすい点</a:t>
            </a:r>
            <a:endParaRPr lang="en-US" sz="920" dirty="0"/>
          </a:p>
        </p:txBody>
      </p:sp>
      <p:sp>
        <p:nvSpPr>
          <p:cNvPr id="15" name="Text 12"/>
          <p:cNvSpPr/>
          <p:nvPr/>
        </p:nvSpPr>
        <p:spPr>
          <a:xfrm>
            <a:off x="8577072" y="288950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background扱い、pork周辺の混同、検出漏れが発生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446520" y="3438144"/>
            <a:ext cx="4663440" cy="0"/>
          </a:xfrm>
          <a:prstGeom prst="line">
            <a:avLst/>
          </a:prstGeom>
          <a:noFill/>
          <a:ln w="8890">
            <a:solidFill>
              <a:srgbClr val="E4DAD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46520" y="3886200"/>
            <a:ext cx="128016" cy="128016"/>
          </a:xfrm>
          <a:prstGeom prst="rect">
            <a:avLst/>
          </a:prstGeom>
          <a:solidFill>
            <a:srgbClr val="305C8A"/>
          </a:solidFill>
          <a:ln w="12700">
            <a:solidFill>
              <a:srgbClr val="305C8A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12280" y="384048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新たな発見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8577072" y="384962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肉そのものだけでなく、背景や撮影条件が結果に影響する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6446520" y="4398264"/>
            <a:ext cx="4663440" cy="0"/>
          </a:xfrm>
          <a:prstGeom prst="line">
            <a:avLst/>
          </a:prstGeom>
          <a:noFill/>
          <a:ln w="8890">
            <a:solidFill>
              <a:srgbClr val="E4DAD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73952" y="5184648"/>
            <a:ext cx="1234440" cy="219456"/>
          </a:xfrm>
          <a:prstGeom prst="rect">
            <a:avLst/>
          </a:prstGeom>
          <a:solidFill>
            <a:srgbClr val="8E2335"/>
          </a:solidFill>
          <a:ln w="12700">
            <a:solidFill>
              <a:srgbClr val="8E2335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65392" y="522122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Takeaway</a:t>
            </a:r>
            <a:endParaRPr lang="en-US" sz="660" dirty="0"/>
          </a:p>
        </p:txBody>
      </p:sp>
      <p:sp>
        <p:nvSpPr>
          <p:cNvPr id="23" name="Text 20"/>
          <p:cNvSpPr/>
          <p:nvPr/>
        </p:nvSpPr>
        <p:spPr>
          <a:xfrm>
            <a:off x="7882128" y="5193792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1A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実用化には、モデル改善より先にデータ多様性の確保が重要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>
                <a:alpha val="0"/>
              </a:srgbClr>
            </a:solidFill>
            <a:prstDash val="solid"/>
          </a:ln>
        </p:spPr>
      </p:sp>
      <p:pic>
        <p:nvPicPr>
          <p:cNvPr id="3" name="Image 0" descr="/Users/abesouichirou/Documents/utokyo_lecture/programming1/detect_results/train/val_batch0_pred.jpg">    </p:cNvPr>
          <p:cNvPicPr>
            <a:picLocks noChangeAspect="1"/>
          </p:cNvPicPr>
          <p:nvPr/>
        </p:nvPicPr>
        <p:blipFill>
          <a:blip r:embed="rId1"/>
          <a:srcRect l="34000" r="-4400" t="0" b="0"/>
          <a:stretch/>
        </p:blipFill>
        <p:spPr>
          <a:xfrm>
            <a:off x="7360920" y="0"/>
            <a:ext cx="482803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95160" y="0"/>
            <a:ext cx="365760" cy="6858000"/>
          </a:xfrm>
          <a:prstGeom prst="rect">
            <a:avLst/>
          </a:prstGeom>
          <a:solidFill>
            <a:srgbClr val="151210">
              <a:alpha val="65000"/>
            </a:srgbClr>
          </a:solidFill>
          <a:ln w="12700">
            <a:solidFill>
              <a:srgbClr val="15121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1792" y="58521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AE9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4章 結論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21792" y="1325880"/>
            <a:ext cx="5440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48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YOLOとRoboflowを用いて、肉画像から肉の種類を判定するモデルを構築し、認識性能と失敗要因を検証した。</a:t>
            </a:r>
            <a:endParaRPr lang="en-US" sz="2248" dirty="0"/>
          </a:p>
        </p:txBody>
      </p:sp>
      <p:sp>
        <p:nvSpPr>
          <p:cNvPr id="7" name="Text 4"/>
          <p:cNvSpPr/>
          <p:nvPr/>
        </p:nvSpPr>
        <p:spPr>
          <a:xfrm>
            <a:off x="658368" y="324612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BAE9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確認できたこと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2057400" y="322783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9D0C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一定条件では肉領域と種類を検出できた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658368" y="3941064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94E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残った課題</a:t>
            </a:r>
            <a:endParaRPr lang="en-US" sz="820" dirty="0"/>
          </a:p>
        </p:txBody>
      </p:sp>
      <p:sp>
        <p:nvSpPr>
          <p:cNvPr id="10" name="Text 7"/>
          <p:cNvSpPr/>
          <p:nvPr/>
        </p:nvSpPr>
        <p:spPr>
          <a:xfrm>
            <a:off x="2057400" y="3922776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9D0C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照明、部位、背景が誤分類や検出漏れにつながった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658368" y="463600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79B3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今後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2057400" y="4617720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9D0C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多様な画像追加、背景条件の比較、他モデルとの比較を行う</a:t>
            </a:r>
            <a:endParaRPr lang="en-US" sz="980" dirty="0"/>
          </a:p>
        </p:txBody>
      </p:sp>
      <p:sp>
        <p:nvSpPr>
          <p:cNvPr id="13" name="Text 10"/>
          <p:cNvSpPr/>
          <p:nvPr/>
        </p:nvSpPr>
        <p:spPr>
          <a:xfrm>
            <a:off x="658368" y="5897880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今後は、実際の利用環境でも安定して判定できるモデルを目指す。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76C6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C81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The University of Tokyo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YOLOとRoboflowを用いた肉種判定モデルの開発</dc:title>
  <dc:subject>YOLO and Roboflow meat detection presentation</dc:subject>
  <dc:creator>programming1</dc:creator>
  <cp:lastModifiedBy>programming1</cp:lastModifiedBy>
  <cp:revision>1</cp:revision>
  <dcterms:created xsi:type="dcterms:W3CDTF">2026-04-22T06:06:12Z</dcterms:created>
  <dcterms:modified xsi:type="dcterms:W3CDTF">2026-04-22T06:06:12Z</dcterms:modified>
</cp:coreProperties>
</file>