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71" r:id="rId8"/>
    <p:sldId id="273" r:id="rId9"/>
    <p:sldId id="264" r:id="rId10"/>
    <p:sldId id="265" r:id="rId11"/>
    <p:sldId id="266" r:id="rId12"/>
    <p:sldId id="268" r:id="rId13"/>
    <p:sldId id="267" r:id="rId14"/>
    <p:sldId id="27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45"/>
    <p:restoredTop sz="94610"/>
  </p:normalViewPr>
  <p:slideViewPr>
    <p:cSldViewPr snapToGrid="0" snapToObjects="1">
      <p:cViewPr>
        <p:scale>
          <a:sx n="74" d="100"/>
          <a:sy n="74" d="100"/>
        </p:scale>
        <p:origin x="6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54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1BEE5-53FA-C48A-C4D2-F35F3D0F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D305E-DDD2-FFC5-BD65-265F7EC14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C109F-1FAF-A7E0-B8C7-88B616D18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4A5BA-ABA0-94BC-1F19-DDD0BEAC5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03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9ACC-080C-4D0A-6062-A2881FB0B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9704E-9A27-5835-380F-409728465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47D67-F72B-BB00-C1AB-03D7C4C74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4E3FF-A476-8F08-19C2-7FF3211DA2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90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Users/abesouichirou/Documents/utokyo_lecture/programming1/detect_results/train/val_batch0_pred.jpg"/>
          <p:cNvPicPr>
            <a:picLocks noChangeAspect="1"/>
          </p:cNvPicPr>
          <p:nvPr/>
        </p:nvPicPr>
        <p:blipFill>
          <a:blip r:embed="rId3"/>
          <a:srcRect l="133" r="133"/>
          <a:stretch/>
        </p:blipFill>
        <p:spPr>
          <a:xfrm>
            <a:off x="5349240" y="0"/>
            <a:ext cx="683971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326571"/>
            <a:ext cx="5166360" cy="6858000"/>
          </a:xfrm>
          <a:prstGeom prst="rect">
            <a:avLst/>
          </a:prstGeom>
          <a:solidFill>
            <a:srgbClr val="151210">
              <a:alpha val="96000"/>
            </a:srgbClr>
          </a:solidFill>
          <a:ln w="12700">
            <a:solidFill>
              <a:srgbClr val="1512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166360" y="0"/>
            <a:ext cx="182880" cy="6858000"/>
          </a:xfrm>
          <a:prstGeom prst="rect">
            <a:avLst/>
          </a:prstGeom>
          <a:solidFill>
            <a:srgbClr val="151210">
              <a:alpha val="58000"/>
            </a:srgbClr>
          </a:solidFill>
          <a:ln w="12700">
            <a:solidFill>
              <a:srgbClr val="1512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566928" y="5669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AE9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MEAT DETECTION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" y="125272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97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 x Roboflow</a:t>
            </a:r>
            <a:endParaRPr lang="en-US" sz="3297" dirty="0"/>
          </a:p>
          <a:p>
            <a:pPr marL="0" indent="0">
              <a:buNone/>
            </a:pPr>
            <a:r>
              <a:rPr lang="en-US" sz="3297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肉種判定モデルの開発</a:t>
            </a:r>
            <a:endParaRPr lang="en-US" sz="3297" dirty="0"/>
          </a:p>
        </p:txBody>
      </p:sp>
      <p:sp>
        <p:nvSpPr>
          <p:cNvPr id="8" name="Text 5"/>
          <p:cNvSpPr/>
          <p:nvPr/>
        </p:nvSpPr>
        <p:spPr>
          <a:xfrm>
            <a:off x="603504" y="299923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D9D0C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画像中の肉領域を検出し、beef / chicken / lamb / pork を推定する</a:t>
            </a:r>
            <a:endParaRPr lang="en-US" sz="1360" dirty="0"/>
          </a:p>
        </p:txBody>
      </p:sp>
      <p:sp>
        <p:nvSpPr>
          <p:cNvPr id="9" name="Shape 6"/>
          <p:cNvSpPr/>
          <p:nvPr/>
        </p:nvSpPr>
        <p:spPr>
          <a:xfrm>
            <a:off x="603504" y="3913632"/>
            <a:ext cx="1143000" cy="365760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685800" y="4009644"/>
            <a:ext cx="978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YOLO11s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1901952" y="3913632"/>
            <a:ext cx="1261872" cy="365760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1984248" y="400964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Roboflow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3319272" y="3913632"/>
            <a:ext cx="1755648" cy="365760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3401568" y="4009644"/>
            <a:ext cx="1591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Object Detection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603504" y="5961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BFB3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応用プログラミング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3218688" y="6080760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BFB3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03250910阿部壮一郎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Users/abesouichirou/Documents/utokyo_lecture/programming1/detect_results/train/val_batch0_pred.jpg"/>
          <p:cNvPicPr>
            <a:picLocks noChangeAspect="1"/>
          </p:cNvPicPr>
          <p:nvPr/>
        </p:nvPicPr>
        <p:blipFill>
          <a:blip r:embed="rId3"/>
          <a:srcRect l="12000" r="26933"/>
          <a:stretch/>
        </p:blipFill>
        <p:spPr>
          <a:xfrm>
            <a:off x="8001000" y="0"/>
            <a:ext cx="418795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84848" y="0"/>
            <a:ext cx="1143000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566928" y="658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構成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13232" y="190195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920" dirty="0"/>
          </a:p>
        </p:txBody>
      </p:sp>
      <p:sp>
        <p:nvSpPr>
          <p:cNvPr id="8" name="Shape 5"/>
          <p:cNvSpPr/>
          <p:nvPr/>
        </p:nvSpPr>
        <p:spPr>
          <a:xfrm>
            <a:off x="1325880" y="1993392"/>
            <a:ext cx="548640" cy="0"/>
          </a:xfrm>
          <a:prstGeom prst="line">
            <a:avLst/>
          </a:prstGeom>
          <a:noFill/>
          <a:ln w="2032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2029968" y="1828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はじめに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685032" y="1856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背景、既往研究、課題、目的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685800" y="2331720"/>
            <a:ext cx="566928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713232" y="2798064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1325880" y="2889504"/>
            <a:ext cx="548640" cy="0"/>
          </a:xfrm>
          <a:prstGeom prst="line">
            <a:avLst/>
          </a:prstGeom>
          <a:noFill/>
          <a:ln w="20320">
            <a:solidFill>
              <a:srgbClr val="1BAE9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2029968" y="2724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手法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685032" y="27523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全体の流れ、Roboflow、YOLO、担当分担</a:t>
            </a:r>
            <a:endParaRPr lang="en-US" sz="1070" dirty="0"/>
          </a:p>
        </p:txBody>
      </p:sp>
      <p:sp>
        <p:nvSpPr>
          <p:cNvPr id="16" name="Shape 13"/>
          <p:cNvSpPr/>
          <p:nvPr/>
        </p:nvSpPr>
        <p:spPr>
          <a:xfrm>
            <a:off x="685800" y="3227832"/>
            <a:ext cx="566928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713232" y="369417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1325880" y="3785616"/>
            <a:ext cx="548640" cy="0"/>
          </a:xfrm>
          <a:prstGeom prst="line">
            <a:avLst/>
          </a:prstGeom>
          <a:noFill/>
          <a:ln w="2032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2029968" y="3621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結果と考察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3685032" y="36484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精度指標、推論例、失敗要因</a:t>
            </a:r>
            <a:endParaRPr lang="en-US" sz="1070" dirty="0"/>
          </a:p>
        </p:txBody>
      </p:sp>
      <p:sp>
        <p:nvSpPr>
          <p:cNvPr id="21" name="Shape 18"/>
          <p:cNvSpPr/>
          <p:nvPr/>
        </p:nvSpPr>
        <p:spPr>
          <a:xfrm>
            <a:off x="685800" y="4123944"/>
            <a:ext cx="566928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713232" y="4590288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1325880" y="4681728"/>
            <a:ext cx="548640" cy="0"/>
          </a:xfrm>
          <a:prstGeom prst="line">
            <a:avLst/>
          </a:prstGeom>
          <a:noFill/>
          <a:ln w="2032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2029968" y="45171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結論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3685032" y="4544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目的の過去形と今後の課題</a:t>
            </a:r>
            <a:endParaRPr lang="en-US" sz="1070" dirty="0"/>
          </a:p>
        </p:txBody>
      </p:sp>
      <p:sp>
        <p:nvSpPr>
          <p:cNvPr id="26" name="Shape 23"/>
          <p:cNvSpPr/>
          <p:nvPr/>
        </p:nvSpPr>
        <p:spPr>
          <a:xfrm>
            <a:off x="685800" y="5020056"/>
            <a:ext cx="566928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8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1章 はじめに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38988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8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自動調理では、食材を見分けて調理条件を変える必要がある</a:t>
            </a:r>
            <a:endParaRPr lang="en-US" sz="1788" dirty="0"/>
          </a:p>
        </p:txBody>
      </p:sp>
      <p:sp>
        <p:nvSpPr>
          <p:cNvPr id="8" name="Text 6"/>
          <p:cNvSpPr/>
          <p:nvPr/>
        </p:nvSpPr>
        <p:spPr>
          <a:xfrm>
            <a:off x="676656" y="22128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肉の種類を画像から判定できれば、加熱時間や火力、調理手順を機械が選ぶための入力として使える。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713232" y="3822192"/>
            <a:ext cx="1554480" cy="73152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13232" y="40416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肉種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13232" y="43708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牛・豚・鶏・羊で適した加熱条件が異なる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3822192"/>
            <a:ext cx="1554480" cy="73152"/>
          </a:xfrm>
          <a:prstGeom prst="rect">
            <a:avLst/>
          </a:prstGeom>
          <a:solidFill>
            <a:srgbClr val="D79B38"/>
          </a:solidFill>
          <a:ln w="12700">
            <a:solidFill>
              <a:srgbClr val="D79B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697480" y="40416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状態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697480" y="43708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部位や切り方で火の通り方が変わる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3822192"/>
            <a:ext cx="1554480" cy="73152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681728" y="40416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見え方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681728" y="43708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照明や重なりで画像特徴が揺れる</a:t>
            </a:r>
            <a:endParaRPr lang="en-US" sz="1000" dirty="0"/>
          </a:p>
        </p:txBody>
      </p:sp>
      <p:pic>
        <p:nvPicPr>
          <p:cNvPr id="18" name="Image 0" descr="/Users/abesouichirou/Documents/utokyo_lecture/programming1/detect_results/train/val_batch0_pred.jpg"/>
          <p:cNvPicPr>
            <a:picLocks noChangeAspect="1"/>
          </p:cNvPicPr>
          <p:nvPr/>
        </p:nvPicPr>
        <p:blipFill>
          <a:blip r:embed="rId3"/>
          <a:srcRect l="20000" t="8000" r="10761" b="22000"/>
          <a:stretch/>
        </p:blipFill>
        <p:spPr>
          <a:xfrm>
            <a:off x="7315200" y="1298448"/>
            <a:ext cx="4160520" cy="42062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315200" y="5742432"/>
            <a:ext cx="1143000" cy="292608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7406640" y="580186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Problem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8641080" y="576072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調理判断の前段として、肉種を安定して検出する必要がある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1章 はじめに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肉画像認識の課題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4944" y="1325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2つの課題に対して、データで学習を進めた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4992624" cy="324612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/Users/abesouichirou/Documents/utokyo_lecture/programming1/detect_results/predict/pngtree-red-meat-on-a-white-cut-out-picture-image_13276259_png.rf.b5d2f746cfb72290f0109194277ae8b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" y="2139696"/>
            <a:ext cx="2057400" cy="2057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0976" y="2139696"/>
            <a:ext cx="20574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8E23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3319272" y="2148840"/>
            <a:ext cx="960120" cy="292608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3410712" y="220827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課題1</a:t>
            </a:r>
            <a:endParaRPr lang="en-US" sz="760" dirty="0"/>
          </a:p>
        </p:txBody>
      </p:sp>
      <p:sp>
        <p:nvSpPr>
          <p:cNvPr id="13" name="Text 10"/>
          <p:cNvSpPr/>
          <p:nvPr/>
        </p:nvSpPr>
        <p:spPr>
          <a:xfrm>
            <a:off x="3319272" y="2670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背景の差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319272" y="31272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皿、まな板、白背景などの撮影条件に引っ張られず、肉そのものの特徴で判定する。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950976" y="4480560"/>
            <a:ext cx="4480560" cy="0"/>
          </a:xfrm>
          <a:prstGeom prst="line">
            <a:avLst/>
          </a:prstGeom>
          <a:noFill/>
          <a:ln w="15240">
            <a:solidFill>
              <a:srgbClr val="8E23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969264" y="46817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背景・切り抜き条件が異なる例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6309360" y="1874520"/>
            <a:ext cx="4992624" cy="324612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1" descr="/Users/abesouichirou/Documents/utokyo_lecture/programming1/detect_results/predict/IMG_2531_jpg.rf.f79a1b88fc9ef9a5564c42be115c7bb8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47104" y="2139696"/>
            <a:ext cx="2057400" cy="20574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547104" y="2139696"/>
            <a:ext cx="20574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1BAE9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6"/>
          <p:cNvSpPr/>
          <p:nvPr/>
        </p:nvSpPr>
        <p:spPr>
          <a:xfrm>
            <a:off x="8915400" y="2148840"/>
            <a:ext cx="960120" cy="292608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7"/>
          <p:cNvSpPr/>
          <p:nvPr/>
        </p:nvSpPr>
        <p:spPr>
          <a:xfrm>
            <a:off x="9006840" y="220827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課題2</a:t>
            </a:r>
            <a:endParaRPr lang="en-US" sz="760" dirty="0"/>
          </a:p>
        </p:txBody>
      </p:sp>
      <p:sp>
        <p:nvSpPr>
          <p:cNvPr id="22" name="Text 18"/>
          <p:cNvSpPr/>
          <p:nvPr/>
        </p:nvSpPr>
        <p:spPr>
          <a:xfrm>
            <a:off x="8915400" y="2670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肉同士の重なり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915400" y="31272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複数の肉片が接触・重なっている場合でも、1つずつの領域と種類を分けて検出する。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6547104" y="4480560"/>
            <a:ext cx="4480560" cy="0"/>
          </a:xfrm>
          <a:prstGeom prst="line">
            <a:avLst/>
          </a:prstGeom>
          <a:noFill/>
          <a:ln w="15240">
            <a:solidFill>
              <a:srgbClr val="1BAE9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1"/>
          <p:cNvSpPr/>
          <p:nvPr/>
        </p:nvSpPr>
        <p:spPr>
          <a:xfrm>
            <a:off x="6565392" y="46817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肉同士が重なって見える例</a:t>
            </a:r>
            <a:endParaRPr lang="en-US" sz="920" dirty="0"/>
          </a:p>
        </p:txBody>
      </p:sp>
      <p:sp>
        <p:nvSpPr>
          <p:cNvPr id="27" name="Text 23"/>
          <p:cNvSpPr/>
          <p:nvPr/>
        </p:nvSpPr>
        <p:spPr>
          <a:xfrm>
            <a:off x="804672" y="565556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Key issue</a:t>
            </a:r>
            <a:endParaRPr lang="en-US" sz="76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1章 はじめに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研究目的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97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YOLOとRoboflowを用いて、肉画像から肉の位置と種類を判定するモデルを構築し、認識性能と失敗要因を分析する。</a:t>
            </a:r>
            <a:endParaRPr lang="en-US" sz="2397" dirty="0"/>
          </a:p>
        </p:txBody>
      </p:sp>
      <p:sp>
        <p:nvSpPr>
          <p:cNvPr id="8" name="Shape 6"/>
          <p:cNvSpPr/>
          <p:nvPr/>
        </p:nvSpPr>
        <p:spPr>
          <a:xfrm>
            <a:off x="475488" y="3401568"/>
            <a:ext cx="3383280" cy="201168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86384" y="37033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Build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4224528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肉画像データセットを作成し、YOLO形式で扱えるようにする</a:t>
            </a:r>
            <a:endParaRPr lang="en-US" sz="1360" dirty="0"/>
          </a:p>
        </p:txBody>
      </p:sp>
      <p:sp>
        <p:nvSpPr>
          <p:cNvPr id="11" name="Shape 9"/>
          <p:cNvSpPr/>
          <p:nvPr/>
        </p:nvSpPr>
        <p:spPr>
          <a:xfrm>
            <a:off x="4453128" y="3401568"/>
            <a:ext cx="3383280" cy="201168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764024" y="37033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AE9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Measure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4024" y="4224528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Precision、Recall、mAPで検出性能を確認する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8430768" y="3401568"/>
            <a:ext cx="3383280" cy="201168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741664" y="37033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5C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Explain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41664" y="4224528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成功例と失敗例から、肉画像認識の課題を考察する</a:t>
            </a:r>
            <a:endParaRPr lang="en-US" sz="13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2章 手法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全体の流れ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93776" y="1417320"/>
            <a:ext cx="2487168" cy="129844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93776" y="1417320"/>
            <a:ext cx="566928" cy="1298448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67512" y="190195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43584" y="16276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画像収集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43584" y="2039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肉画像を集める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054096" y="2066544"/>
            <a:ext cx="292608" cy="0"/>
          </a:xfrm>
          <a:prstGeom prst="line">
            <a:avLst/>
          </a:prstGeom>
          <a:noFill/>
          <a:ln w="13970">
            <a:solidFill>
              <a:srgbClr val="E4DAD2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419856" y="1417320"/>
            <a:ext cx="2487168" cy="129844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419856" y="1417320"/>
            <a:ext cx="566928" cy="1298448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593592" y="190195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69664" y="16276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アノテーション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69664" y="2039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肉領域をBBox化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980176" y="2066544"/>
            <a:ext cx="292608" cy="0"/>
          </a:xfrm>
          <a:prstGeom prst="line">
            <a:avLst/>
          </a:prstGeom>
          <a:noFill/>
          <a:ln w="13970">
            <a:solidFill>
              <a:srgbClr val="E4DAD2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345936" y="1417320"/>
            <a:ext cx="2487168" cy="129844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345936" y="1417320"/>
            <a:ext cx="566928" cy="1298448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519672" y="190195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95744" y="16276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前処理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95744" y="2039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サイズ統一と分割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906256" y="2066544"/>
            <a:ext cx="292608" cy="0"/>
          </a:xfrm>
          <a:prstGeom prst="line">
            <a:avLst/>
          </a:prstGeom>
          <a:noFill/>
          <a:ln w="13970">
            <a:solidFill>
              <a:srgbClr val="E4DAD2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9272016" y="1417320"/>
            <a:ext cx="2487168" cy="129844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9272016" y="1417320"/>
            <a:ext cx="566928" cy="1298448"/>
          </a:xfrm>
          <a:prstGeom prst="rect">
            <a:avLst/>
          </a:prstGeom>
          <a:solidFill>
            <a:srgbClr val="D79B38"/>
          </a:solidFill>
          <a:ln w="12700">
            <a:solidFill>
              <a:srgbClr val="D79B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9445752" y="190195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021824" y="16276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データ拡張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021824" y="2039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見え方の揺れを補う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493776" y="3657600"/>
            <a:ext cx="2487168" cy="129844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493776" y="3657600"/>
            <a:ext cx="566928" cy="1298448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67512" y="41422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243584" y="3867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YOLO学習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243584" y="42793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位置とクラスを学習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3054096" y="4306824"/>
            <a:ext cx="292608" cy="0"/>
          </a:xfrm>
          <a:prstGeom prst="line">
            <a:avLst/>
          </a:prstGeom>
          <a:noFill/>
          <a:ln w="13970">
            <a:solidFill>
              <a:srgbClr val="E4DAD2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3419856" y="3657600"/>
            <a:ext cx="2487168" cy="129844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3419856" y="3657600"/>
            <a:ext cx="566928" cy="1298448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3593592" y="41422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169664" y="3867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推論・評価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169664" y="42793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指標と画像で確認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5980176" y="4306824"/>
            <a:ext cx="292608" cy="0"/>
          </a:xfrm>
          <a:prstGeom prst="line">
            <a:avLst/>
          </a:prstGeom>
          <a:noFill/>
          <a:ln w="13970">
            <a:solidFill>
              <a:srgbClr val="E4DAD2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6345936" y="3657600"/>
            <a:ext cx="2487168" cy="129844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6345936" y="3657600"/>
            <a:ext cx="566928" cy="1298448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519672" y="41422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095744" y="3867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095744" y="42793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失敗要因を整理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1700784" y="67208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Roboflowで作ったデータセットをYOLOに渡し、検出結果と誤り方を確認する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3B1C1-6A89-1BE9-912A-35C8B4610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CF0B54F-14D7-5931-F677-7DE0CC486277}"/>
              </a:ext>
            </a:extLst>
          </p:cNvPr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2章 手法</a:t>
            </a:r>
            <a:endParaRPr lang="en-US" sz="84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06C81C-7462-CB24-61AA-618A78895A9D}"/>
              </a:ext>
            </a:extLst>
          </p:cNvPr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データセット作成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DCA1287-56E6-6167-D3EB-55EA05636C3C}"/>
              </a:ext>
            </a:extLst>
          </p:cNvPr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94BF50-331D-9110-76FC-8E7BE66AFFCC}"/>
              </a:ext>
            </a:extLst>
          </p:cNvPr>
          <p:cNvSpPr/>
          <p:nvPr/>
        </p:nvSpPr>
        <p:spPr>
          <a:xfrm>
            <a:off x="741560" y="1296815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1. 対象クラス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6C63392-1138-B9FF-2AC7-9D587466F8E4}"/>
              </a:ext>
            </a:extLst>
          </p:cNvPr>
          <p:cNvSpPr/>
          <p:nvPr/>
        </p:nvSpPr>
        <p:spPr>
          <a:xfrm>
            <a:off x="915297" y="1792583"/>
            <a:ext cx="1490472" cy="270335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C3C2442-95BB-4388-6034-A73CABCFE92E}"/>
              </a:ext>
            </a:extLst>
          </p:cNvPr>
          <p:cNvSpPr/>
          <p:nvPr/>
        </p:nvSpPr>
        <p:spPr>
          <a:xfrm>
            <a:off x="997592" y="1888595"/>
            <a:ext cx="1311615" cy="6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beef</a:t>
            </a:r>
            <a:endParaRPr lang="en-US" sz="82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9D9C500-A29E-BC13-DF77-7A2FA1E39F29}"/>
              </a:ext>
            </a:extLst>
          </p:cNvPr>
          <p:cNvSpPr/>
          <p:nvPr/>
        </p:nvSpPr>
        <p:spPr>
          <a:xfrm>
            <a:off x="6013705" y="1753427"/>
            <a:ext cx="1490472" cy="270335"/>
          </a:xfrm>
          <a:prstGeom prst="rect">
            <a:avLst/>
          </a:prstGeom>
          <a:solidFill>
            <a:srgbClr val="D79B38"/>
          </a:solidFill>
          <a:ln w="12700">
            <a:solidFill>
              <a:srgbClr val="D79B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E711BB1-C96F-3DB3-BB04-8D1205A4A827}"/>
              </a:ext>
            </a:extLst>
          </p:cNvPr>
          <p:cNvSpPr/>
          <p:nvPr/>
        </p:nvSpPr>
        <p:spPr>
          <a:xfrm>
            <a:off x="6096000" y="1849439"/>
            <a:ext cx="1311615" cy="6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chicken</a:t>
            </a:r>
            <a:endParaRPr lang="en-US" sz="82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5120CC5-966F-37CC-1BFA-3FADBCE3874C}"/>
              </a:ext>
            </a:extLst>
          </p:cNvPr>
          <p:cNvSpPr/>
          <p:nvPr/>
        </p:nvSpPr>
        <p:spPr>
          <a:xfrm>
            <a:off x="869475" y="4284611"/>
            <a:ext cx="1490472" cy="270335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1167368-D91F-AAA9-E463-FBF50617F199}"/>
              </a:ext>
            </a:extLst>
          </p:cNvPr>
          <p:cNvSpPr/>
          <p:nvPr/>
        </p:nvSpPr>
        <p:spPr>
          <a:xfrm>
            <a:off x="951770" y="4380623"/>
            <a:ext cx="1311615" cy="6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lamb</a:t>
            </a:r>
            <a:endParaRPr lang="en-US" sz="82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84F4EE9-A5BD-B084-FA26-8392AEF3B142}"/>
              </a:ext>
            </a:extLst>
          </p:cNvPr>
          <p:cNvSpPr/>
          <p:nvPr/>
        </p:nvSpPr>
        <p:spPr>
          <a:xfrm>
            <a:off x="6006571" y="4223804"/>
            <a:ext cx="1490472" cy="270335"/>
          </a:xfrm>
          <a:prstGeom prst="rect">
            <a:avLst/>
          </a:prstGeom>
          <a:solidFill>
            <a:srgbClr val="D94E59"/>
          </a:solidFill>
          <a:ln w="12700">
            <a:solidFill>
              <a:srgbClr val="D94E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EBBCA6E-6667-00F1-7D3D-F1CA7335936C}"/>
              </a:ext>
            </a:extLst>
          </p:cNvPr>
          <p:cNvSpPr/>
          <p:nvPr/>
        </p:nvSpPr>
        <p:spPr>
          <a:xfrm>
            <a:off x="6096000" y="4325180"/>
            <a:ext cx="1311615" cy="6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pork</a:t>
            </a:r>
            <a:endParaRPr lang="en-US" sz="82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103E350E-F76E-18B6-7346-064DE0B39803}"/>
              </a:ext>
            </a:extLst>
          </p:cNvPr>
          <p:cNvSpPr/>
          <p:nvPr/>
        </p:nvSpPr>
        <p:spPr>
          <a:xfrm>
            <a:off x="2378337" y="1059594"/>
            <a:ext cx="3154680" cy="0"/>
          </a:xfrm>
          <a:prstGeom prst="line">
            <a:avLst/>
          </a:prstGeom>
          <a:noFill/>
          <a:ln w="1016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D946C7C-49AB-D91E-89A9-BEF44B148179}"/>
              </a:ext>
            </a:extLst>
          </p:cNvPr>
          <p:cNvSpPr/>
          <p:nvPr/>
        </p:nvSpPr>
        <p:spPr>
          <a:xfrm>
            <a:off x="2309206" y="1302712"/>
            <a:ext cx="4026279" cy="26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クラスは、牛、チキン、羊、豚の4クラス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11807678-FBBA-50C5-9440-446652500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452" y="2234101"/>
            <a:ext cx="2900889" cy="1943771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5BD54514-92A6-EEBA-901F-D0A45B6C5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4414415"/>
            <a:ext cx="2212683" cy="2137036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5B3C14A3-8CA0-8AD0-F1DC-18F944766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768" y="4720433"/>
            <a:ext cx="3208625" cy="1844959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EDC12C43-1B86-0A34-35B3-F1FCD29A0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4177" y="2062918"/>
            <a:ext cx="2697876" cy="196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65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0F424-69D7-F8DC-3BD3-4D164C09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685DF5F-EF95-9759-E0BF-5D26EC075929}"/>
              </a:ext>
            </a:extLst>
          </p:cNvPr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2章 手法</a:t>
            </a:r>
            <a:endParaRPr lang="en-US" sz="84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147D30-BD40-0E07-55A8-0E58D4218448}"/>
              </a:ext>
            </a:extLst>
          </p:cNvPr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データセット作成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2F6B031-4FD0-C206-E786-DCEEEA8D7568}"/>
              </a:ext>
            </a:extLst>
          </p:cNvPr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02D5F61-A482-E4BA-8915-C6DC04E813E4}"/>
              </a:ext>
            </a:extLst>
          </p:cNvPr>
          <p:cNvSpPr/>
          <p:nvPr/>
        </p:nvSpPr>
        <p:spPr>
          <a:xfrm>
            <a:off x="1083116" y="54006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691E469-D17D-9469-B4EB-822059B8EF3D}"/>
              </a:ext>
            </a:extLst>
          </p:cNvPr>
          <p:cNvSpPr/>
          <p:nvPr/>
        </p:nvSpPr>
        <p:spPr>
          <a:xfrm>
            <a:off x="857385" y="14795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2. Annotation</a:t>
            </a:r>
            <a:endParaRPr lang="en-US" sz="1450" dirty="0"/>
          </a:p>
        </p:txBody>
      </p:sp>
      <p:pic>
        <p:nvPicPr>
          <p:cNvPr id="23" name="Image 1" descr="/Users/abesouichirou/Documents/utokyo_lecture/programming1/detect_results/train/val_batch0_pred.jpg">
            <a:extLst>
              <a:ext uri="{FF2B5EF4-FFF2-40B4-BE49-F238E27FC236}">
                <a16:creationId xmlns:a16="http://schemas.microsoft.com/office/drawing/2014/main" id="{18BC1287-A036-DE67-282F-5F2598EC29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000" t="20000" r="16096" b="34000"/>
          <a:stretch/>
        </p:blipFill>
        <p:spPr>
          <a:xfrm>
            <a:off x="857385" y="1881911"/>
            <a:ext cx="4711222" cy="4175289"/>
          </a:xfrm>
          <a:prstGeom prst="rect">
            <a:avLst/>
          </a:prstGeom>
        </p:spPr>
      </p:pic>
      <p:sp>
        <p:nvSpPr>
          <p:cNvPr id="26" name="Text 22">
            <a:extLst>
              <a:ext uri="{FF2B5EF4-FFF2-40B4-BE49-F238E27FC236}">
                <a16:creationId xmlns:a16="http://schemas.microsoft.com/office/drawing/2014/main" id="{7F702F65-0294-9A39-8069-77A0A2465856}"/>
              </a:ext>
            </a:extLst>
          </p:cNvPr>
          <p:cNvSpPr/>
          <p:nvPr/>
        </p:nvSpPr>
        <p:spPr>
          <a:xfrm>
            <a:off x="6173565" y="1979482"/>
            <a:ext cx="5537563" cy="702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600" dirty="0" err="1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画像中の肉だけをバウンディングボックスで指定</a:t>
            </a:r>
            <a:endParaRPr lang="en-US" altLang="ja-JP" sz="16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Slide Number Placeholder 0">
            <a:extLst>
              <a:ext uri="{FF2B5EF4-FFF2-40B4-BE49-F238E27FC236}">
                <a16:creationId xmlns:a16="http://schemas.microsoft.com/office/drawing/2014/main" id="{7C6165AE-6D5E-0CAC-6FFA-797485BD17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7BABE5-734E-FF88-1F8C-C60C1FB038FE}"/>
              </a:ext>
            </a:extLst>
          </p:cNvPr>
          <p:cNvSpPr txBox="1"/>
          <p:nvPr/>
        </p:nvSpPr>
        <p:spPr>
          <a:xfrm>
            <a:off x="6173565" y="2832609"/>
            <a:ext cx="305724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1600"/>
              <a:t>クラスごとのアノテーション数</a:t>
            </a:r>
          </a:p>
          <a:p>
            <a:r>
              <a:rPr lang="ja-JP" altLang="en-US" sz="1600"/>
              <a:t>・</a:t>
            </a:r>
            <a:r>
              <a:rPr lang="ja-JP" altLang="ja-JP" sz="1600"/>
              <a:t>beef：約200個 </a:t>
            </a:r>
          </a:p>
          <a:p>
            <a:r>
              <a:rPr lang="ja-JP" altLang="en-US" sz="1600"/>
              <a:t>・</a:t>
            </a:r>
            <a:r>
              <a:rPr lang="ja-JP" altLang="ja-JP" sz="1600"/>
              <a:t>chicken：約140個 </a:t>
            </a:r>
          </a:p>
          <a:p>
            <a:r>
              <a:rPr lang="ja-JP" altLang="en-US" sz="1600"/>
              <a:t>・</a:t>
            </a:r>
            <a:r>
              <a:rPr lang="ja-JP" altLang="ja-JP" sz="1600"/>
              <a:t>lamb：約380個 </a:t>
            </a:r>
          </a:p>
          <a:p>
            <a:r>
              <a:rPr lang="ja-JP" altLang="en-US" sz="1600"/>
              <a:t>・</a:t>
            </a:r>
            <a:r>
              <a:rPr lang="ja-JP" altLang="ja-JP" sz="1600"/>
              <a:t>pork：約310個</a:t>
            </a:r>
          </a:p>
          <a:p>
            <a:endParaRPr kumimoji="1" lang="ja-JP" altLang="en-US"/>
          </a:p>
        </p:txBody>
      </p:sp>
      <p:pic>
        <p:nvPicPr>
          <p:cNvPr id="8" name="Image 0" descr="/Users/abesouichirou/Documents/utokyo_lecture/programming1/detect_results/train/labels.jpg">
            <a:extLst>
              <a:ext uri="{FF2B5EF4-FFF2-40B4-BE49-F238E27FC236}">
                <a16:creationId xmlns:a16="http://schemas.microsoft.com/office/drawing/2014/main" id="{35A4DFAF-D9BD-6B5A-2FD6-09BA8C9F2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507" y="3232522"/>
            <a:ext cx="3265358" cy="326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713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2章 手法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Roboflowでの工夫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1261872"/>
            <a:ext cx="8376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肉の画像は撮影条件に左右されるため、データ側の調整を行う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77824" y="2386583"/>
            <a:ext cx="146304" cy="146304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9" name="Text 7"/>
          <p:cNvSpPr/>
          <p:nvPr/>
        </p:nvSpPr>
        <p:spPr>
          <a:xfrm>
            <a:off x="1216152" y="2340863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5C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Resize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87752" y="2331719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画像サイズを640pxに統一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7824" y="2715767"/>
            <a:ext cx="516636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2" name="Shape 10"/>
          <p:cNvSpPr/>
          <p:nvPr/>
        </p:nvSpPr>
        <p:spPr>
          <a:xfrm>
            <a:off x="877824" y="3008375"/>
            <a:ext cx="146304" cy="146304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3" name="Text 11"/>
          <p:cNvSpPr/>
          <p:nvPr/>
        </p:nvSpPr>
        <p:spPr>
          <a:xfrm>
            <a:off x="1216152" y="2962655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AE9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Split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87752" y="2953511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学習、検証、テストに分割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7824" y="3337559"/>
            <a:ext cx="516636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6" name="Shape 14"/>
          <p:cNvSpPr/>
          <p:nvPr/>
        </p:nvSpPr>
        <p:spPr>
          <a:xfrm>
            <a:off x="877824" y="3630167"/>
            <a:ext cx="146304" cy="146304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7" name="Text 15"/>
          <p:cNvSpPr/>
          <p:nvPr/>
        </p:nvSpPr>
        <p:spPr>
          <a:xfrm>
            <a:off x="1216152" y="3584447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Augment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87752" y="3575303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反転、拡大縮小、色変化などの微調整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7824" y="3959351"/>
            <a:ext cx="516636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20" name="Shape 18"/>
          <p:cNvSpPr/>
          <p:nvPr/>
        </p:nvSpPr>
        <p:spPr>
          <a:xfrm>
            <a:off x="877824" y="4251959"/>
            <a:ext cx="146304" cy="146304"/>
          </a:xfrm>
          <a:prstGeom prst="rect">
            <a:avLst/>
          </a:prstGeom>
          <a:solidFill>
            <a:srgbClr val="D94E59"/>
          </a:solidFill>
          <a:ln w="12700">
            <a:solidFill>
              <a:srgbClr val="D94E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21" name="Text 19"/>
          <p:cNvSpPr/>
          <p:nvPr/>
        </p:nvSpPr>
        <p:spPr>
          <a:xfrm>
            <a:off x="1216152" y="4206239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4E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Add data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87751" y="4197095"/>
            <a:ext cx="41357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dirty="0" err="1">
                <a:solidFill>
                  <a:srgbClr val="FF0000"/>
                </a:solidFill>
              </a:rPr>
              <a:t>複数の肉が重なっている画像</a:t>
            </a:r>
            <a:r>
              <a:rPr lang="en-US" sz="1400" dirty="0" err="1">
                <a:solidFill>
                  <a:srgbClr val="FF000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を追加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77824" y="4581143"/>
            <a:ext cx="516636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24" name="Shape 22"/>
          <p:cNvSpPr/>
          <p:nvPr/>
        </p:nvSpPr>
        <p:spPr>
          <a:xfrm>
            <a:off x="877824" y="4873751"/>
            <a:ext cx="146304" cy="146304"/>
          </a:xfrm>
          <a:prstGeom prst="rect">
            <a:avLst/>
          </a:prstGeom>
          <a:solidFill>
            <a:srgbClr val="D79B38"/>
          </a:solidFill>
          <a:ln w="12700">
            <a:solidFill>
              <a:srgbClr val="D79B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25" name="Text 23"/>
          <p:cNvSpPr/>
          <p:nvPr/>
        </p:nvSpPr>
        <p:spPr>
          <a:xfrm>
            <a:off x="1216152" y="4828031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9B3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Export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87752" y="4818887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YOLO形式で出力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77824" y="5202935"/>
            <a:ext cx="516636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2章 手法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YOLOによる学習と担当分担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94944" y="1353312"/>
            <a:ext cx="3794760" cy="431596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960120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学習設定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87552" y="224942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model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920240" y="223113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yolo11s.pt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987552" y="268833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epochs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920240" y="26700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100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987552" y="312724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imgsz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938169" y="31089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/>
              <a:t>758</a:t>
            </a:r>
          </a:p>
        </p:txBody>
      </p:sp>
      <p:sp>
        <p:nvSpPr>
          <p:cNvPr id="15" name="Text 13"/>
          <p:cNvSpPr/>
          <p:nvPr/>
        </p:nvSpPr>
        <p:spPr>
          <a:xfrm>
            <a:off x="987552" y="356616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batch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920240" y="354787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987552" y="400507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task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920240" y="398678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detect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754880" y="1847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</a:t>
            </a:r>
            <a:endParaRPr lang="en-US" sz="1120" dirty="0"/>
          </a:p>
        </p:txBody>
      </p:sp>
      <p:pic>
        <p:nvPicPr>
          <p:cNvPr id="20" name="Image 0" descr="/Users/abesouichirou/Documents/utokyo_lecture/programming1/detect_results/predict/IMG_2571_jpg.rf.ede6c052f742170fc837e6c3e2b0ed3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0600" y="2157984"/>
            <a:ext cx="1572768" cy="15727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473952" y="2944368"/>
            <a:ext cx="475488" cy="0"/>
          </a:xfrm>
          <a:prstGeom prst="line">
            <a:avLst/>
          </a:prstGeom>
          <a:noFill/>
          <a:ln w="17780">
            <a:solidFill>
              <a:srgbClr val="1BAE9D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7040880" y="281635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726680" y="2944368"/>
            <a:ext cx="502920" cy="0"/>
          </a:xfrm>
          <a:prstGeom prst="line">
            <a:avLst/>
          </a:prstGeom>
          <a:noFill/>
          <a:ln w="17780">
            <a:solidFill>
              <a:srgbClr val="1BAE9D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8302752" y="1847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出力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8302752" y="2176272"/>
            <a:ext cx="2788920" cy="148132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8613648" y="24597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肉の位置</a:t>
            </a:r>
            <a:endParaRPr lang="en-US" sz="1430" dirty="0"/>
          </a:p>
          <a:p>
            <a:pPr marL="0" indent="0">
              <a:buNone/>
            </a:pPr>
            <a:r>
              <a:rPr lang="en-US" sz="143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種類ラベル</a:t>
            </a:r>
            <a:endParaRPr lang="en-US" sz="1430" dirty="0"/>
          </a:p>
          <a:p>
            <a:pPr marL="0" indent="0">
              <a:buNone/>
            </a:pPr>
            <a:r>
              <a:rPr lang="en-US" sz="143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confidence</a:t>
            </a:r>
            <a:endParaRPr lang="en-US" sz="143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3章 結果と考察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学習結果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最終epochの評価指標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9808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Precision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084832" y="1920240"/>
            <a:ext cx="2240280" cy="164592"/>
          </a:xfrm>
          <a:prstGeom prst="rect">
            <a:avLst/>
          </a:prstGeom>
          <a:solidFill>
            <a:srgbClr val="E4DAD2"/>
          </a:solidFill>
          <a:ln w="12700">
            <a:solidFill>
              <a:srgbClr val="E4DA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084832" y="1920240"/>
            <a:ext cx="1989772" cy="164592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370832" y="188366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88.8%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9808" y="256032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Recall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84832" y="2578608"/>
            <a:ext cx="2240280" cy="164592"/>
          </a:xfrm>
          <a:prstGeom prst="rect">
            <a:avLst/>
          </a:prstGeom>
          <a:solidFill>
            <a:srgbClr val="E4DAD2"/>
          </a:solidFill>
          <a:ln w="12700">
            <a:solidFill>
              <a:srgbClr val="E4DA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084832" y="2578608"/>
            <a:ext cx="1765587" cy="164592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370832" y="25420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78.8%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49808" y="32186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mAP50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2084832" y="3236976"/>
            <a:ext cx="2240280" cy="164592"/>
          </a:xfrm>
          <a:prstGeom prst="rect">
            <a:avLst/>
          </a:prstGeom>
          <a:solidFill>
            <a:srgbClr val="E4DAD2"/>
          </a:solidFill>
          <a:ln w="12700">
            <a:solidFill>
              <a:srgbClr val="E4DA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084832" y="3236976"/>
            <a:ext cx="1941561" cy="164592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370832" y="32004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86.7%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49808" y="38770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mAP50-95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2084832" y="3895344"/>
            <a:ext cx="2240280" cy="164592"/>
          </a:xfrm>
          <a:prstGeom prst="rect">
            <a:avLst/>
          </a:prstGeom>
          <a:solidFill>
            <a:srgbClr val="E4DAD2"/>
          </a:solidFill>
          <a:ln w="12700">
            <a:solidFill>
              <a:srgbClr val="E4DA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084832" y="3895344"/>
            <a:ext cx="1422264" cy="164592"/>
          </a:xfrm>
          <a:prstGeom prst="rect">
            <a:avLst/>
          </a:prstGeom>
          <a:solidFill>
            <a:srgbClr val="D79B38"/>
          </a:solidFill>
          <a:ln w="12700">
            <a:solidFill>
              <a:srgbClr val="D79B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370832" y="385876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63.5%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85800" y="5605313"/>
            <a:ext cx="8660907" cy="640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一定条件では検出できたが、mAP50-95は63.5%で、厳密な分類には改善余地がある</a:t>
            </a:r>
            <a:r>
              <a:rPr lang="en-US" sz="1240" dirty="0">
                <a:solidFill>
                  <a:srgbClr val="FF000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1240" dirty="0">
              <a:solidFill>
                <a:srgbClr val="FF0000"/>
              </a:solidFill>
            </a:endParaRPr>
          </a:p>
        </p:txBody>
      </p:sp>
      <p:pic>
        <p:nvPicPr>
          <p:cNvPr id="25" name="Image 0" descr="/Users/abesouichirou/Documents/utokyo_lecture/programming1/detect_results/train/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380" y="1497371"/>
            <a:ext cx="6057052" cy="302852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813448" y="6245352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出典: detect_results/train/results.csv, results.png</a:t>
            </a:r>
            <a:endParaRPr lang="en-US" sz="76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C6F6B72-3B02-A239-0B26-CCCED0E0FA4F}"/>
              </a:ext>
            </a:extLst>
          </p:cNvPr>
          <p:cNvSpPr txBox="1"/>
          <p:nvPr/>
        </p:nvSpPr>
        <p:spPr>
          <a:xfrm>
            <a:off x="555171" y="4736847"/>
            <a:ext cx="7381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・</a:t>
            </a:r>
            <a:r>
              <a:rPr lang="ja-JP" altLang="ja-JP"/>
              <a:t>10</a:t>
            </a:r>
            <a:r>
              <a:rPr lang="en-US" altLang="ja-JP" dirty="0"/>
              <a:t>0</a:t>
            </a:r>
            <a:r>
              <a:rPr lang="ja-JP" altLang="ja-JP"/>
              <a:t>エポックの学習で、train/val loss は全体的に低下 </a:t>
            </a:r>
            <a:endParaRPr lang="en-US" altLang="ja-JP" dirty="0"/>
          </a:p>
          <a:p>
            <a:r>
              <a:rPr lang="ja-JP" altLang="en-US"/>
              <a:t>・</a:t>
            </a:r>
            <a:r>
              <a:rPr lang="ja-JP" altLang="ja-JP"/>
              <a:t>Precision：約0.88、Recall：約0.78まで向上 </a:t>
            </a:r>
            <a:endParaRPr lang="en-US" altLang="ja-JP" dirty="0"/>
          </a:p>
          <a:p>
            <a:r>
              <a:rPr lang="ja-JP" altLang="en-US"/>
              <a:t>・</a:t>
            </a:r>
            <a:r>
              <a:rPr lang="ja-JP" altLang="ja-JP"/>
              <a:t>mAP50：約0.86、mAP50-95：約0.63を達成</a:t>
            </a:r>
            <a:endParaRPr lang="en-US" altLang="ja-JP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3章 結果と考察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結果の考察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Users/abesouichirou/Documents/utokyo_lecture/programming1/detect_results/train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564767"/>
            <a:ext cx="5349240" cy="40119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3990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混同行列から見えること</a:t>
            </a:r>
            <a:endParaRPr lang="en-US" sz="175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F18459B-F349-1A27-816F-D58877654967}"/>
              </a:ext>
            </a:extLst>
          </p:cNvPr>
          <p:cNvSpPr txBox="1"/>
          <p:nvPr/>
        </p:nvSpPr>
        <p:spPr>
          <a:xfrm>
            <a:off x="6647688" y="1946644"/>
            <a:ext cx="46634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/>
              <a:t>・</a:t>
            </a:r>
            <a:r>
              <a:rPr lang="ja-JP" altLang="ja-JP" sz="1600"/>
              <a:t>chicken は誤分類が少なく、最も安定して識別 </a:t>
            </a:r>
            <a:endParaRPr lang="en-US" altLang="ja-JP" sz="1600" dirty="0"/>
          </a:p>
          <a:p>
            <a:r>
              <a:rPr lang="ja-JP" altLang="en-US" sz="1600"/>
              <a:t>・</a:t>
            </a:r>
            <a:r>
              <a:rPr lang="ja-JP" altLang="ja-JP" sz="1600"/>
              <a:t>lamb は正解数が多い一方、他クラスや背景も lamb と誤検出しやすい </a:t>
            </a:r>
            <a:endParaRPr lang="en-US" altLang="ja-JP" sz="1600" dirty="0"/>
          </a:p>
          <a:p>
            <a:r>
              <a:rPr lang="ja-JP" altLang="en-US" sz="1600"/>
              <a:t>・</a:t>
            </a:r>
            <a:r>
              <a:rPr lang="ja-JP" altLang="ja-JP" sz="1600"/>
              <a:t>pork は lamb と混同されやすく、見逃しも多い </a:t>
            </a:r>
            <a:endParaRPr lang="en-US" altLang="ja-JP" sz="1600" dirty="0"/>
          </a:p>
          <a:p>
            <a:r>
              <a:rPr lang="ja-JP" altLang="en-US" sz="1600"/>
              <a:t>・</a:t>
            </a:r>
            <a:r>
              <a:rPr lang="ja-JP" altLang="ja-JP" sz="1600"/>
              <a:t>背景を肉として検出する誤検出も確認された </a:t>
            </a:r>
            <a:endParaRPr lang="en-US" altLang="ja-JP" sz="16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35FBD9E-89B9-A2D1-736F-F9ACAEE21376}"/>
              </a:ext>
            </a:extLst>
          </p:cNvPr>
          <p:cNvSpPr txBox="1"/>
          <p:nvPr/>
        </p:nvSpPr>
        <p:spPr>
          <a:xfrm>
            <a:off x="6761988" y="5187541"/>
            <a:ext cx="4663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800"/>
              <a:t>pork画像の追加、lamb/porkの類似画像の拡充、背景データの追加</a:t>
            </a:r>
            <a:endParaRPr kumimoji="1" lang="ja-JP" altLang="en-US" sz="180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FA78405C-27C6-A018-5585-D68D464C250E}"/>
              </a:ext>
            </a:extLst>
          </p:cNvPr>
          <p:cNvSpPr/>
          <p:nvPr/>
        </p:nvSpPr>
        <p:spPr>
          <a:xfrm>
            <a:off x="6400800" y="4685041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 err="1">
                <a:solidFill>
                  <a:srgbClr val="FF0000"/>
                </a:solidFill>
                <a:latin typeface="Hiragino Sans" pitchFamily="34" charset="0"/>
                <a:ea typeface="Hiragino Sans" pitchFamily="34" charset="-122"/>
              </a:rPr>
              <a:t>改善策</a:t>
            </a:r>
            <a:endParaRPr lang="en-US" sz="175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3章 結果と考察</a:t>
            </a:r>
            <a:endParaRPr lang="en-US" sz="84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12984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単体では判定できても、重なりでは pork に寄る誤判定が出る</a:t>
            </a:r>
            <a:endParaRPr lang="en-US" sz="1400" dirty="0"/>
          </a:p>
        </p:txBody>
      </p:sp>
      <p:pic>
        <p:nvPicPr>
          <p:cNvPr id="8" name="Image 0" descr="/Users/abesouichirou/Documents/utokyo_lecture/programming1/detect_results/predict/IMG_2571_jpg.rf.ede6c052f742170fc837e6c3e2b0ed3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1792224"/>
            <a:ext cx="2487168" cy="2487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6656" y="1792224"/>
            <a:ext cx="2487168" cy="248716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BAE9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676656" y="1792224"/>
            <a:ext cx="2487168" cy="310896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768096" y="1856232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単体: lamb 0.81</a:t>
            </a:r>
            <a:endParaRPr lang="en-US" sz="830" dirty="0"/>
          </a:p>
        </p:txBody>
      </p:sp>
      <p:pic>
        <p:nvPicPr>
          <p:cNvPr id="12" name="Image 1" descr="/Users/abesouichirou/Documents/utokyo_lecture/programming1/detect_results/predict/category-pork-1024x768_png.rf.572d8e91e0194c0c525ee4144dfe7ca4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10128" y="1792224"/>
            <a:ext cx="2487168" cy="2487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10128" y="1792224"/>
            <a:ext cx="2487168" cy="248716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D94E5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0"/>
          <p:cNvSpPr/>
          <p:nvPr/>
        </p:nvSpPr>
        <p:spPr>
          <a:xfrm>
            <a:off x="3310128" y="1792224"/>
            <a:ext cx="2487168" cy="310896"/>
          </a:xfrm>
          <a:prstGeom prst="rect">
            <a:avLst/>
          </a:prstGeom>
          <a:solidFill>
            <a:srgbClr val="D94E59"/>
          </a:solidFill>
          <a:ln w="12700">
            <a:solidFill>
              <a:srgbClr val="D94E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1"/>
          <p:cNvSpPr/>
          <p:nvPr/>
        </p:nvSpPr>
        <p:spPr>
          <a:xfrm>
            <a:off x="3401568" y="1856232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単体: pork 0.58</a:t>
            </a:r>
            <a:endParaRPr lang="en-US" sz="830" dirty="0"/>
          </a:p>
        </p:txBody>
      </p:sp>
      <p:pic>
        <p:nvPicPr>
          <p:cNvPr id="16" name="Image 2" descr="/Users/abesouichirou/Documents/utokyo_lecture/programming1/detect_results/predict/Screenshot-2025-04-02-234238_png.rf.f6aab08a21fe6901ec6b99459aaae9c8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43600" y="1792224"/>
            <a:ext cx="2487168" cy="248716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943600" y="1792224"/>
            <a:ext cx="2487168" cy="248716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8E23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3"/>
          <p:cNvSpPr/>
          <p:nvPr/>
        </p:nvSpPr>
        <p:spPr>
          <a:xfrm>
            <a:off x="5943600" y="1792224"/>
            <a:ext cx="2487168" cy="310896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4"/>
          <p:cNvSpPr/>
          <p:nvPr/>
        </p:nvSpPr>
        <p:spPr>
          <a:xfrm>
            <a:off x="6035040" y="1856232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重なり: pork 0.36 / 0.46</a:t>
            </a:r>
            <a:endParaRPr lang="en-US" sz="830" dirty="0"/>
          </a:p>
        </p:txBody>
      </p:sp>
      <p:pic>
        <p:nvPicPr>
          <p:cNvPr id="20" name="Image 3" descr="/Users/abesouichirou/Documents/utokyo_lecture/programming1/detect_results/predict/IMG_2531_jpg.rf.f79a1b88fc9ef9a5564c42be115c7bb8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2" y="1792224"/>
            <a:ext cx="2487168" cy="2487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577072" y="1792224"/>
            <a:ext cx="2487168" cy="248716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305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6"/>
          <p:cNvSpPr/>
          <p:nvPr/>
        </p:nvSpPr>
        <p:spPr>
          <a:xfrm>
            <a:off x="8577072" y="1792224"/>
            <a:ext cx="2487168" cy="310896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7"/>
          <p:cNvSpPr/>
          <p:nvPr/>
        </p:nvSpPr>
        <p:spPr>
          <a:xfrm>
            <a:off x="8668512" y="1856232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重なり: BBoxが不安定</a:t>
            </a:r>
            <a:endParaRPr lang="en-US" sz="830" dirty="0"/>
          </a:p>
        </p:txBody>
      </p:sp>
      <p:sp>
        <p:nvSpPr>
          <p:cNvPr id="28" name="Text 22"/>
          <p:cNvSpPr/>
          <p:nvPr/>
        </p:nvSpPr>
        <p:spPr>
          <a:xfrm>
            <a:off x="1051559" y="4956047"/>
            <a:ext cx="2069647" cy="24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2542031" y="4937760"/>
            <a:ext cx="76143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</a:t>
            </a:r>
            <a:r>
              <a:rPr lang="en-US" sz="1600" dirty="0" err="1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重なり部分では境界が曖昧になり、pork</a:t>
            </a:r>
            <a:r>
              <a:rPr lang="en-US" sz="1600" dirty="0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r>
              <a:rPr lang="en-US" sz="1600" dirty="0" err="1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として誤って検出されやすい</a:t>
            </a:r>
            <a:endParaRPr lang="en-US" sz="1600" dirty="0">
              <a:latin typeface="Hiragino Sans" pitchFamily="34" charset="0"/>
              <a:ea typeface="Hiragino Sans" pitchFamily="34" charset="-122"/>
              <a:cs typeface="Hiragino Sans" pitchFamily="34" charset="-120"/>
            </a:endParaRPr>
          </a:p>
          <a:p>
            <a:pPr marL="0" indent="0">
              <a:buNone/>
            </a:pPr>
            <a:endParaRPr lang="en-US" sz="1600" dirty="0">
              <a:latin typeface="Hiragino Sans" pitchFamily="34" charset="0"/>
              <a:ea typeface="Hiragino Sans" pitchFamily="34" charset="-122"/>
            </a:endParaRPr>
          </a:p>
          <a:p>
            <a:pPr marL="0" indent="0">
              <a:buNone/>
            </a:pPr>
            <a:r>
              <a:rPr lang="en-US" sz="1600" dirty="0">
                <a:latin typeface="Hiragino Sans" pitchFamily="34" charset="0"/>
                <a:ea typeface="Hiragino Sans" pitchFamily="34" charset="-122"/>
              </a:rPr>
              <a:t>・</a:t>
            </a:r>
            <a:r>
              <a:rPr lang="en-US" sz="1600" dirty="0" err="1">
                <a:latin typeface="Hiragino Sans" pitchFamily="34" charset="0"/>
                <a:ea typeface="Hiragino Sans" pitchFamily="34" charset="-122"/>
              </a:rPr>
              <a:t>重なり部分でバウンディングボックスが、正しく認識されず不安定になる</a:t>
            </a:r>
            <a:r>
              <a:rPr lang="en-US" sz="1600" dirty="0">
                <a:latin typeface="Hiragino Sans" pitchFamily="34" charset="0"/>
                <a:ea typeface="Hiragino Sans" pitchFamily="34" charset="-122"/>
              </a:rPr>
              <a:t>。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ECBE007B-0B87-6822-FCFB-89ECA3036C07}"/>
              </a:ext>
            </a:extLst>
          </p:cNvPr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</a:rPr>
              <a:t>追加検証</a:t>
            </a:r>
            <a:r>
              <a:rPr lang="en-US" sz="16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</a:rPr>
              <a:t>(</a:t>
            </a:r>
            <a:r>
              <a:rPr lang="en-US" sz="1600" b="1" dirty="0" err="1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</a:rPr>
              <a:t>重なった画像の判定</a:t>
            </a:r>
            <a:r>
              <a:rPr lang="en-US" sz="16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</a:rPr>
              <a:t>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Label"/>
          <p:cNvSpPr/>
          <p:nvPr/>
        </p:nvSpPr>
        <p:spPr>
          <a:xfrm>
            <a:off x="530352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4章 結論</a:t>
            </a:r>
            <a:endParaRPr lang="en-US" sz="840" dirty="0"/>
          </a:p>
        </p:txBody>
      </p:sp>
      <p:sp>
        <p:nvSpPr>
          <p:cNvPr id="4" name="Title"/>
          <p:cNvSpPr/>
          <p:nvPr/>
        </p:nvSpPr>
        <p:spPr>
          <a:xfrm>
            <a:off x="530352" y="5577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結論</a:t>
            </a:r>
            <a:endParaRPr lang="en-US" sz="1200" dirty="0"/>
          </a:p>
        </p:txBody>
      </p:sp>
      <p:sp>
        <p:nvSpPr>
          <p:cNvPr id="5" name="Divider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Lead"/>
          <p:cNvSpPr/>
          <p:nvPr/>
        </p:nvSpPr>
        <p:spPr>
          <a:xfrm>
            <a:off x="713232" y="1320000"/>
            <a:ext cx="10765231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YOLOとRoboflowを用いて肉種検出モデルを構築し、一定条件下での検出性能と失敗要因を明らかにした。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475488" y="2320000"/>
            <a:ext cx="3383280" cy="156000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Card1Label"/>
          <p:cNvSpPr/>
          <p:nvPr/>
        </p:nvSpPr>
        <p:spPr>
          <a:xfrm>
            <a:off x="786384" y="2560000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Card1Title"/>
          <p:cNvSpPr/>
          <p:nvPr/>
        </p:nvSpPr>
        <p:spPr>
          <a:xfrm>
            <a:off x="786384" y="2860000"/>
            <a:ext cx="2761488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データセットとモデルを構築</a:t>
            </a:r>
            <a:endParaRPr lang="en-US" sz="1300" dirty="0"/>
          </a:p>
        </p:txBody>
      </p:sp>
      <p:sp>
        <p:nvSpPr>
          <p:cNvPr id="11" name="Card1Body"/>
          <p:cNvSpPr/>
          <p:nvPr/>
        </p:nvSpPr>
        <p:spPr>
          <a:xfrm>
            <a:off x="786384" y="3180000"/>
            <a:ext cx="2761488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A32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肉画像を収集・アノテーションし、YOLO11sで4クラスを検出するモデルを構築した</a:t>
            </a:r>
            <a:endParaRPr lang="en-US" sz="1080" dirty="0"/>
          </a:p>
        </p:txBody>
      </p:sp>
      <p:sp>
        <p:nvSpPr>
          <p:cNvPr id="12" name="Card2"/>
          <p:cNvSpPr/>
          <p:nvPr/>
        </p:nvSpPr>
        <p:spPr>
          <a:xfrm>
            <a:off x="4453128" y="2320000"/>
            <a:ext cx="3383280" cy="156000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Card2Label"/>
          <p:cNvSpPr/>
          <p:nvPr/>
        </p:nvSpPr>
        <p:spPr>
          <a:xfrm>
            <a:off x="4764024" y="2560000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AE9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Measured</a:t>
            </a:r>
            <a:endParaRPr lang="en-US" sz="1100" dirty="0"/>
          </a:p>
        </p:txBody>
      </p:sp>
      <p:sp>
        <p:nvSpPr>
          <p:cNvPr id="14" name="Card2Stat"/>
          <p:cNvSpPr/>
          <p:nvPr/>
        </p:nvSpPr>
        <p:spPr>
          <a:xfrm>
            <a:off x="4764024" y="2840000"/>
            <a:ext cx="2761488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mAP50 86.7%</a:t>
            </a:r>
            <a:endParaRPr lang="en-US" sz="1600" dirty="0"/>
          </a:p>
        </p:txBody>
      </p:sp>
      <p:sp>
        <p:nvSpPr>
          <p:cNvPr id="15" name="Card2Body"/>
          <p:cNvSpPr/>
          <p:nvPr/>
        </p:nvSpPr>
        <p:spPr>
          <a:xfrm>
            <a:off x="4764024" y="3320000"/>
            <a:ext cx="2761488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A32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Precision 88.8% / Recall 78.8%。一定条件では安定して検出できた</a:t>
            </a:r>
            <a:endParaRPr lang="en-US" sz="1080" dirty="0"/>
          </a:p>
        </p:txBody>
      </p:sp>
      <p:sp>
        <p:nvSpPr>
          <p:cNvPr id="16" name="Card3"/>
          <p:cNvSpPr/>
          <p:nvPr/>
        </p:nvSpPr>
        <p:spPr>
          <a:xfrm>
            <a:off x="8430768" y="2320000"/>
            <a:ext cx="3383280" cy="156000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Card3Label"/>
          <p:cNvSpPr/>
          <p:nvPr/>
        </p:nvSpPr>
        <p:spPr>
          <a:xfrm>
            <a:off x="8741664" y="2560000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5C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Explained</a:t>
            </a:r>
            <a:endParaRPr lang="en-US" sz="1100" dirty="0"/>
          </a:p>
        </p:txBody>
      </p:sp>
      <p:sp>
        <p:nvSpPr>
          <p:cNvPr id="18" name="Card3Title"/>
          <p:cNvSpPr/>
          <p:nvPr/>
        </p:nvSpPr>
        <p:spPr>
          <a:xfrm>
            <a:off x="8741664" y="2860000"/>
            <a:ext cx="2761488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失敗要因を考察</a:t>
            </a:r>
            <a:endParaRPr lang="en-US" sz="1300" dirty="0"/>
          </a:p>
        </p:txBody>
      </p:sp>
      <p:sp>
        <p:nvSpPr>
          <p:cNvPr id="19" name="Card3Body"/>
          <p:cNvSpPr/>
          <p:nvPr/>
        </p:nvSpPr>
        <p:spPr>
          <a:xfrm>
            <a:off x="8741664" y="3180000"/>
            <a:ext cx="2761488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A32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chickenは安定識別。lamb / porkは重なり部分で誤検出が出ることを確認した</a:t>
            </a:r>
            <a:endParaRPr lang="en-US" sz="1080" dirty="0"/>
          </a:p>
        </p:txBody>
      </p:sp>
      <p:sp>
        <p:nvSpPr>
          <p:cNvPr id="21" name="FutureLabel"/>
          <p:cNvSpPr/>
          <p:nvPr/>
        </p:nvSpPr>
        <p:spPr>
          <a:xfrm>
            <a:off x="786384" y="4420000"/>
            <a:ext cx="3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AE9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今後の課題</a:t>
            </a:r>
            <a:endParaRPr lang="en-US" sz="1600" dirty="0"/>
          </a:p>
        </p:txBody>
      </p:sp>
      <p:sp>
        <p:nvSpPr>
          <p:cNvPr id="22" name="FutureNum1"/>
          <p:cNvSpPr/>
          <p:nvPr/>
        </p:nvSpPr>
        <p:spPr>
          <a:xfrm>
            <a:off x="786384" y="4870000"/>
            <a:ext cx="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400" dirty="0"/>
          </a:p>
        </p:txBody>
      </p:sp>
      <p:sp>
        <p:nvSpPr>
          <p:cNvPr id="23" name="FutureText1"/>
          <p:cNvSpPr/>
          <p:nvPr/>
        </p:nvSpPr>
        <p:spPr>
          <a:xfrm>
            <a:off x="1260000" y="4870000"/>
            <a:ext cx="248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pork画像の追加と、lamb / porkの類似画像の拡充で分類精度を高める</a:t>
            </a:r>
            <a:endParaRPr lang="en-US" sz="1160" dirty="0"/>
          </a:p>
        </p:txBody>
      </p:sp>
      <p:sp>
        <p:nvSpPr>
          <p:cNvPr id="24" name="FutureNum2"/>
          <p:cNvSpPr/>
          <p:nvPr/>
        </p:nvSpPr>
        <p:spPr>
          <a:xfrm>
            <a:off x="4520000" y="4870000"/>
            <a:ext cx="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FutureText2"/>
          <p:cNvSpPr/>
          <p:nvPr/>
        </p:nvSpPr>
        <p:spPr>
          <a:xfrm>
            <a:off x="4994000" y="4870000"/>
            <a:ext cx="248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重なり画像のアノテーション強化で、BBoxの安定化と誤判定を抑える</a:t>
            </a:r>
            <a:endParaRPr lang="en-US" sz="1160" dirty="0"/>
          </a:p>
        </p:txBody>
      </p:sp>
      <p:sp>
        <p:nvSpPr>
          <p:cNvPr id="26" name="FutureNum3"/>
          <p:cNvSpPr/>
          <p:nvPr/>
        </p:nvSpPr>
        <p:spPr>
          <a:xfrm>
            <a:off x="8254000" y="4870000"/>
            <a:ext cx="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FutureText3"/>
          <p:cNvSpPr/>
          <p:nvPr/>
        </p:nvSpPr>
        <p:spPr>
          <a:xfrm>
            <a:off x="8728000" y="4870000"/>
            <a:ext cx="28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背景データの追加で、背景を肉と誤認する誤検出を抑制する</a:t>
            </a:r>
            <a:endParaRPr lang="en-US" sz="1160" dirty="0"/>
          </a:p>
        </p:txBody>
      </p:sp>
      <p:sp>
        <p:nvSpPr>
          <p:cNvPr id="28" name="PageLabel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endParaRPr lang="en-US" sz="850" dirty="0"/>
          </a:p>
        </p:txBody>
      </p:sp>
      <p:sp>
        <p:nvSpPr>
          <p:cNvPr id="29" name="Card1Label">
            <a:extLst>
              <a:ext uri="{FF2B5EF4-FFF2-40B4-BE49-F238E27FC236}">
                <a16:creationId xmlns:a16="http://schemas.microsoft.com/office/drawing/2014/main" id="{EFBD5933-2966-4BAA-9DAE-BA1188197FE2}"/>
              </a:ext>
            </a:extLst>
          </p:cNvPr>
          <p:cNvSpPr/>
          <p:nvPr/>
        </p:nvSpPr>
        <p:spPr>
          <a:xfrm>
            <a:off x="786384" y="2597120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Built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610</Words>
  <Application>Microsoft Macintosh PowerPoint</Application>
  <PresentationFormat>ワイド画面</PresentationFormat>
  <Paragraphs>218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Hiragino Sans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The University of Tokyo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YOLOとRoboflowを用いた肉種判定モデルの開発</dc:title>
  <dc:subject>YOLO and Roboflow meat detection presentation</dc:subject>
  <dc:creator>programming1</dc:creator>
  <cp:lastModifiedBy>中村　亮</cp:lastModifiedBy>
  <cp:revision>7</cp:revision>
  <dcterms:created xsi:type="dcterms:W3CDTF">2026-06-01T04:12:57Z</dcterms:created>
  <dcterms:modified xsi:type="dcterms:W3CDTF">2026-06-01T05:27:23Z</dcterms:modified>
</cp:coreProperties>
</file>